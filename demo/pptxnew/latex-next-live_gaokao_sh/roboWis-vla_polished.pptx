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开场先不要从技术细节讲起。核心问题是：VLA 在最终超时之前，内部是否已经出现可读的失效信号？本工作尝试把 MoE 路由从模型结构的一部分，转化为一个可在线使用的内部传感器。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这一页就是整套汇报的逻辑骨架。老师只需要记住三件事：失败发生得比超时更早；内部路由可能比动作先暴露问题；我们希望把这个现象变成可干预的系统。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这里不要把 NAD、TAAR 讲成背景综述，而要讲成两步启发：第一，内部信号比外部输出更丰富；第二，内部诊断不仅能解释，还能控制。我们的工作将这两步迁移到 VLA。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先定义清楚 Trap，避免把所有失败都混在一起。这里的关键是“可干预”：如果只是碰撞或环境不可逆，内部报警也未必能救；我们关注的是策略仍有机会通过重新规划恢复的状态。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这一页将研究拆成三个可验证的问题。机制、检测、救回必须分开，否则很容易从一张漂亮的相关性图直接跳到“能在线提升成功率”的过度结论。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强调这是一个闭环，不是离线分类器。每次环境交互后重新观测，VLA 再生成一个 chunk；我们在生成过程中读取内部路由，更新报警分数，必要时保存现场并产生替代动作。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这一页必须把 VLA 与 LLM 的差异说清楚：纵向的基本单位不是 token，而是环境交互后的 action chunk。每个 chunk 内又包含多轮去噪和多个 token 位置，因此后续比较必须严格对齐同一位置。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这里是方法的数学核心。我们不是把一个 chunk 内所有位置混在一起，而是跨 chunk 对齐同一 token 位置、同一层、同一去噪阶段，再聚合成路由集合。Jaccard 距离用于衡量结构是否还在变化。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报警要靠“持续低变化”，而不是单点下降。单个 chunk 可能只是任务进入稳定执行阶段，因此要加入连续窗口和进展条件，并在验证集上校准阈值。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这页只讲现象，不抢着下结论。热图显示成功与 Trap 轨迹在后段的路由结构不同，尤其 Trap onset 后出现横向重复。必须明确这仍是相关性，需要更多对照和统计验证。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这一页回答“为什么不直接看动作”。动作是内部计算的低维结果，而且连续控制中的波动不一定代表策略在有效变化。内部路由提供了另一种观察策略状态的视角，但要强调它只是传感器候选，不是真值。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救回的关键不是从头重启，而是保存当前物理状态，在同一个状态上产生替代动作。主线优先使用可控、可回滚的重采样和短 chunk；直接切换专家风险高，只适合因果消融。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这里要主动承认一个重要问题：后段信号可能只是动作已经陷入 Trap 的结果。要证明“早期可预测”，必须在同一初始状态的成败 rollout 间比较，并严格按任务和初始状态分组划分。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这页是整个研究是否扎实的关键。老师通常会追问：外部信号能不能做到？报警是否提前？救回是否真的提升成功率？所以四个层次必须各自有数据、指标和基线。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可行性不要只写“技术成熟”。应明确哪些已经完成、哪些只是现象、哪些是风险。尤其要承认不是所有 MoE 模块都有可用动态：静态或塌缩路由必须先筛除。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计划页给出清晰的验证顺序：先把信号定义稳定下来，再做跨任务检测，随后做闭环救回，最后整合 demo 和论文。不要把所有方向同时铺开。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结尾回到一句话：我们不是为了看懂 MoE 而看懂 MoE，而是希望让 VLA 在真正失败之前，用内部状态发出可操作的警报。随后进入提问。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oboWis_unpack/ppt/media/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032" y="384048"/>
            <a:ext cx="1263112" cy="457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48840" y="448056"/>
            <a:ext cx="1536192" cy="292608"/>
          </a:xfrm>
          <a:prstGeom prst="roundRect">
            <a:avLst>
              <a:gd name="adj" fmla="val 28125"/>
            </a:avLst>
          </a:prstGeom>
          <a:solidFill>
            <a:srgbClr val="EAF2FA"/>
          </a:solidFill>
          <a:ln w="8890">
            <a:solidFill>
              <a:srgbClr val="EAF2FA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148840" y="448056"/>
            <a:ext cx="1536192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ROBOT-WHISPER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1234440"/>
            <a:ext cx="5715000" cy="14630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0D2F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VLA 大模型的</a:t>
            </a:r>
            <a:endParaRPr lang="en-US" sz="3500" dirty="0"/>
          </a:p>
          <a:p>
            <a:pPr marL="0" indent="0" algn="l">
              <a:buNone/>
            </a:pPr>
            <a:r>
              <a:rPr lang="en-US" sz="3500" b="1" dirty="0">
                <a:solidFill>
                  <a:srgbClr val="0D2F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内部机理分析</a:t>
            </a:r>
            <a:endParaRPr lang="en-US" sz="3500" dirty="0"/>
          </a:p>
        </p:txBody>
      </p:sp>
      <p:sp>
        <p:nvSpPr>
          <p:cNvPr id="6" name="Text 3"/>
          <p:cNvSpPr txBox="1"/>
          <p:nvPr/>
        </p:nvSpPr>
        <p:spPr>
          <a:xfrm>
            <a:off x="713232" y="2834640"/>
            <a:ext cx="544068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A69A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 MoE 路由动态的 Trap 预警与在线救回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3493008"/>
            <a:ext cx="54406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5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从“动作是否失败”前移到“内部状态何时开始失去变化”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13232" y="4983480"/>
            <a:ext cx="5120640" cy="841248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0160">
            <a:solidFill>
              <a:srgbClr val="F4F7F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521208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73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答辩人：</a:t>
            </a:r>
            <a:r>
              <a:rPr lang="en-US" sz="1250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xxx    </a:t>
            </a:r>
            <a:r>
              <a:rPr lang="en-US" sz="1250" b="1" dirty="0">
                <a:solidFill>
                  <a:srgbClr val="173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导师：</a:t>
            </a:r>
            <a:r>
              <a:rPr lang="en-US" sz="1250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xxx    </a:t>
            </a:r>
            <a:r>
              <a:rPr lang="en-US" sz="1250" b="1" dirty="0">
                <a:solidFill>
                  <a:srgbClr val="173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日期：</a:t>
            </a:r>
            <a:r>
              <a:rPr lang="en-US" sz="1250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2026/xx/xx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46520" y="548640"/>
            <a:ext cx="5321808" cy="5321808"/>
          </a:xfrm>
          <a:prstGeom prst="arc">
            <a:avLst/>
          </a:prstGeom>
          <a:solidFill>
            <a:srgbClr val="EAF2FA"/>
          </a:solidFill>
          <a:ln w="12700">
            <a:solidFill>
              <a:srgbClr val="EAF2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31152" y="1024128"/>
            <a:ext cx="4526280" cy="4553712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0160">
            <a:solidFill>
              <a:srgbClr val="C7D6E6"/>
            </a:solidFill>
            <a:prstDash val="solid"/>
          </a:ln>
          <a:effectLst>
            <a:outerShdw blurRad="15240" dist="50800" dir="2700000" algn="bl" rotWithShape="0">
              <a:srgbClr val="7F8C99">
                <a:alpha val="18000"/>
              </a:srgbClr>
            </a:outerShdw>
          </a:effectLst>
        </p:spPr>
      </p:sp>
      <p:pic>
        <p:nvPicPr>
          <p:cNvPr id="12" name="Image 1" descr="/mnt/data/roboWis_unpack/ppt/media/image5.png"/>
          <p:cNvPicPr>
            <a:picLocks noChangeAspect="1"/>
          </p:cNvPicPr>
          <p:nvPr/>
        </p:nvPicPr>
        <p:blipFill>
          <a:blip r:embed="rId2"/>
          <a:srcRect t="49" b="49"/>
          <a:stretch>
            <a:fillRect/>
          </a:stretch>
        </p:blipFill>
        <p:spPr>
          <a:xfrm>
            <a:off x="7114032" y="1216152"/>
            <a:ext cx="2852928" cy="285292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646920" y="1554480"/>
            <a:ext cx="1508760" cy="2121408"/>
          </a:xfrm>
          <a:prstGeom prst="roundRect">
            <a:avLst>
              <a:gd name="adj" fmla="val 4848"/>
            </a:avLst>
          </a:prstGeom>
          <a:solidFill>
            <a:srgbClr val="0D2F56"/>
          </a:solidFill>
          <a:ln w="12700">
            <a:solidFill>
              <a:srgbClr val="0D2F56"/>
            </a:solidFill>
            <a:prstDash val="solid"/>
          </a:ln>
        </p:spPr>
      </p:sp>
      <p:pic>
        <p:nvPicPr>
          <p:cNvPr id="14" name="Image 2" descr="/mnt/data/roboWis_unpack/ppt/media/image15.png"/>
          <p:cNvPicPr>
            <a:picLocks noChangeAspect="1"/>
          </p:cNvPicPr>
          <p:nvPr/>
        </p:nvPicPr>
        <p:blipFill>
          <a:blip r:embed="rId3"/>
          <a:srcRect l="50000" t="3000" r="12842" b="5000"/>
          <a:stretch>
            <a:fillRect/>
          </a:stretch>
        </p:blipFill>
        <p:spPr>
          <a:xfrm>
            <a:off x="9774936" y="1700784"/>
            <a:ext cx="1261872" cy="176479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281160" y="2651760"/>
            <a:ext cx="365760" cy="182880"/>
          </a:xfrm>
          <a:prstGeom prst="line">
            <a:avLst/>
          </a:prstGeom>
          <a:noFill/>
          <a:ln w="22860">
            <a:solidFill>
              <a:srgbClr val="62A7D8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8970264" y="2770632"/>
            <a:ext cx="128016" cy="128016"/>
          </a:xfrm>
          <a:prstGeom prst="ellipse">
            <a:avLst/>
          </a:prstGeom>
          <a:solidFill>
            <a:srgbClr val="397FC3"/>
          </a:solidFill>
          <a:ln w="6350">
            <a:solidFill>
              <a:srgbClr val="397FC3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9281160" y="2350008"/>
            <a:ext cx="91440" cy="91440"/>
          </a:xfrm>
          <a:prstGeom prst="ellipse">
            <a:avLst/>
          </a:prstGeom>
          <a:solidFill>
            <a:srgbClr val="62A7D8"/>
          </a:solidFill>
          <a:ln w="6350">
            <a:solidFill>
              <a:srgbClr val="62A7D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230868" y="3140964"/>
            <a:ext cx="82296" cy="82296"/>
          </a:xfrm>
          <a:prstGeom prst="ellipse">
            <a:avLst/>
          </a:prstGeom>
          <a:solidFill>
            <a:srgbClr val="62A7D8"/>
          </a:solidFill>
          <a:ln w="6350">
            <a:solidFill>
              <a:srgbClr val="62A7D8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205472" y="4279392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视觉 / 指令 / 本体状态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418320" y="4443984"/>
            <a:ext cx="731520" cy="0"/>
          </a:xfrm>
          <a:prstGeom prst="line">
            <a:avLst/>
          </a:prstGeom>
          <a:noFill/>
          <a:ln w="20320">
            <a:solidFill>
              <a:srgbClr val="2A69AC"/>
            </a:solidFill>
            <a:prstDash val="solid"/>
            <a:tailEnd type="triangle"/>
          </a:ln>
        </p:spPr>
      </p:sp>
      <p:sp>
        <p:nvSpPr>
          <p:cNvPr id="21" name="Text 16"/>
          <p:cNvSpPr txBox="1"/>
          <p:nvPr/>
        </p:nvSpPr>
        <p:spPr>
          <a:xfrm>
            <a:off x="9875520" y="4041648"/>
            <a:ext cx="1298448" cy="7863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MoE 路由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73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内部传感器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0" y="6519672"/>
            <a:ext cx="12191695" cy="338328"/>
          </a:xfrm>
          <a:prstGeom prst="rect">
            <a:avLst/>
          </a:prstGeom>
          <a:solidFill>
            <a:srgbClr val="0D2F56"/>
          </a:solidFill>
          <a:ln w="12700">
            <a:solidFill>
              <a:srgbClr val="0D2F56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13232" y="653796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4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Neurons see the state that actions do not.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oboWis_unpack/ppt/media/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735" y="128016"/>
            <a:ext cx="1010489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55648" y="155448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ROBOT-WHISPER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7406640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06640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动机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8065008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65008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723376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23376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9381744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381744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0040112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40112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0698480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698480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计划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11384280" y="128016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3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11480" y="557784"/>
            <a:ext cx="11365992" cy="0"/>
          </a:xfrm>
          <a:prstGeom prst="line">
            <a:avLst/>
          </a:prstGeom>
          <a:noFill/>
          <a:ln w="11430">
            <a:solidFill>
              <a:srgbClr val="C7D6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5488" y="749808"/>
            <a:ext cx="50292" cy="402336"/>
          </a:xfrm>
          <a:prstGeom prst="rect">
            <a:avLst/>
          </a:prstGeom>
          <a:solidFill>
            <a:srgbClr val="2A69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694944"/>
            <a:ext cx="1060704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一页讲清研究故事</a:t>
            </a:r>
            <a:endParaRPr lang="en-US" sz="2500" dirty="0"/>
          </a:p>
        </p:txBody>
      </p:sp>
      <p:sp>
        <p:nvSpPr>
          <p:cNvPr id="20" name="Shape 17"/>
          <p:cNvSpPr/>
          <p:nvPr/>
        </p:nvSpPr>
        <p:spPr>
          <a:xfrm>
            <a:off x="411480" y="6583680"/>
            <a:ext cx="11365992" cy="0"/>
          </a:xfrm>
          <a:prstGeom prst="line">
            <a:avLst/>
          </a:prstGeom>
          <a:noFill/>
          <a:ln w="6985">
            <a:solidFill>
              <a:srgbClr val="C7D6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5488" y="6620256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VLA internal routing · trap alarm · online recovery</a:t>
            </a:r>
            <a:endParaRPr lang="en-US" sz="8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8869680" y="6620256"/>
            <a:ext cx="288036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复旦大学 · Robot-Whisper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94360" y="1444752"/>
            <a:ext cx="3108960" cy="2999232"/>
          </a:xfrm>
          <a:prstGeom prst="roundRect">
            <a:avLst>
              <a:gd name="adj" fmla="val 2439"/>
            </a:avLst>
          </a:prstGeom>
          <a:solidFill>
            <a:srgbClr val="FCE9E8"/>
          </a:solidFill>
          <a:ln w="10160">
            <a:solidFill>
              <a:srgbClr val="FCE9E8"/>
            </a:solidFill>
            <a:prstDash val="solid"/>
          </a:ln>
          <a:effectLst>
            <a:outerShdw blurRad="15240" dist="50800" dir="2700000" algn="bl" rotWithShape="0">
              <a:srgbClr val="7F8C99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32104" y="1673352"/>
            <a:ext cx="530352" cy="530352"/>
          </a:xfrm>
          <a:prstGeom prst="ellipse">
            <a:avLst/>
          </a:prstGeom>
          <a:solidFill>
            <a:srgbClr val="C84A45"/>
          </a:solidFill>
          <a:ln w="12700">
            <a:solidFill>
              <a:srgbClr val="C84A4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32104" y="1673352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1527048" y="1664208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84A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905256" y="2423160"/>
            <a:ext cx="2487168" cy="1225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VLA 的许多失败最终表现为耗尽最大控制步，但真正的策略失效往往更早发生。</a:t>
            </a:r>
            <a:endParaRPr lang="en-US" sz="1750" dirty="0"/>
          </a:p>
        </p:txBody>
      </p:sp>
      <p:sp>
        <p:nvSpPr>
          <p:cNvPr id="28" name="Shape 25"/>
          <p:cNvSpPr/>
          <p:nvPr/>
        </p:nvSpPr>
        <p:spPr>
          <a:xfrm>
            <a:off x="3794760" y="2907792"/>
            <a:ext cx="292608" cy="0"/>
          </a:xfrm>
          <a:prstGeom prst="line">
            <a:avLst/>
          </a:prstGeom>
          <a:noFill/>
          <a:ln w="29210">
            <a:solidFill>
              <a:srgbClr val="C7D6E6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4160520" y="1444752"/>
            <a:ext cx="3108960" cy="2999232"/>
          </a:xfrm>
          <a:prstGeom prst="roundRect">
            <a:avLst>
              <a:gd name="adj" fmla="val 2439"/>
            </a:avLst>
          </a:prstGeom>
          <a:solidFill>
            <a:srgbClr val="FFF4DF"/>
          </a:solidFill>
          <a:ln w="10160">
            <a:solidFill>
              <a:srgbClr val="FFF4DF"/>
            </a:solidFill>
            <a:prstDash val="solid"/>
          </a:ln>
          <a:effectLst>
            <a:outerShdw blurRad="15240" dist="50800" dir="2700000" algn="bl" rotWithShape="0">
              <a:srgbClr val="7F8C99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398264" y="1673352"/>
            <a:ext cx="530352" cy="53035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398264" y="1673352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1664208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8A3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4471416" y="2423160"/>
            <a:ext cx="2487168" cy="1225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外部动作仍在变化时，部分 MoE 路由可能已进入低变化、重复或过度承诺的内部状态。</a:t>
            </a:r>
            <a:endParaRPr lang="en-US" sz="1750" dirty="0"/>
          </a:p>
        </p:txBody>
      </p:sp>
      <p:sp>
        <p:nvSpPr>
          <p:cNvPr id="34" name="Shape 31"/>
          <p:cNvSpPr/>
          <p:nvPr/>
        </p:nvSpPr>
        <p:spPr>
          <a:xfrm>
            <a:off x="7360920" y="2907792"/>
            <a:ext cx="292608" cy="0"/>
          </a:xfrm>
          <a:prstGeom prst="line">
            <a:avLst/>
          </a:prstGeom>
          <a:noFill/>
          <a:ln w="29210">
            <a:solidFill>
              <a:srgbClr val="C7D6E6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7726680" y="1444752"/>
            <a:ext cx="3108960" cy="2999232"/>
          </a:xfrm>
          <a:prstGeom prst="roundRect">
            <a:avLst>
              <a:gd name="adj" fmla="val 2439"/>
            </a:avLst>
          </a:prstGeom>
          <a:solidFill>
            <a:srgbClr val="E6F4F1"/>
          </a:solidFill>
          <a:ln w="10160">
            <a:solidFill>
              <a:srgbClr val="E6F4F1"/>
            </a:solidFill>
            <a:prstDash val="solid"/>
          </a:ln>
          <a:effectLst>
            <a:outerShdw blurRad="15240" dist="50800" dir="2700000" algn="bl" rotWithShape="0">
              <a:srgbClr val="7F8C99">
                <a:alpha val="8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7964424" y="1673352"/>
            <a:ext cx="530352" cy="530352"/>
          </a:xfrm>
          <a:prstGeom prst="ellipse">
            <a:avLst/>
          </a:prstGeom>
          <a:solidFill>
            <a:srgbClr val="2E8C7D"/>
          </a:solidFill>
          <a:ln w="12700">
            <a:solidFill>
              <a:srgbClr val="2E8C7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964424" y="1673352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8659368" y="1664208"/>
            <a:ext cx="155448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E8C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</a:t>
            </a:r>
            <a:endParaRPr lang="en-US" sz="2200" dirty="0"/>
          </a:p>
        </p:txBody>
      </p:sp>
      <p:sp>
        <p:nvSpPr>
          <p:cNvPr id="39" name="Text 36"/>
          <p:cNvSpPr txBox="1"/>
          <p:nvPr/>
        </p:nvSpPr>
        <p:spPr>
          <a:xfrm>
            <a:off x="8037576" y="2423160"/>
            <a:ext cx="2487168" cy="122529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750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将路由动态变成在线信号：提前报警、定位 Trap，并触发轻量 rollout 救回。</a:t>
            </a:r>
            <a:endParaRPr lang="en-US" sz="1750" dirty="0"/>
          </a:p>
        </p:txBody>
      </p:sp>
      <p:sp>
        <p:nvSpPr>
          <p:cNvPr id="40" name="Shape 37"/>
          <p:cNvSpPr/>
          <p:nvPr/>
        </p:nvSpPr>
        <p:spPr>
          <a:xfrm>
            <a:off x="594360" y="4773168"/>
            <a:ext cx="10241280" cy="1115568"/>
          </a:xfrm>
          <a:prstGeom prst="roundRect">
            <a:avLst>
              <a:gd name="adj" fmla="val 6557"/>
            </a:avLst>
          </a:prstGeom>
          <a:solidFill>
            <a:srgbClr val="0D2F56"/>
          </a:solidFill>
          <a:ln w="10160">
            <a:solidFill>
              <a:srgbClr val="0D2F56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59536" y="5001768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2A7D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核心假设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1993392" y="4892040"/>
            <a:ext cx="836676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External motion may still look active, while internal routing has already become trapped.</a:t>
            </a:r>
            <a:endParaRPr lang="en-US" sz="2000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43" name="Text 40"/>
          <p:cNvSpPr txBox="1"/>
          <p:nvPr/>
        </p:nvSpPr>
        <p:spPr>
          <a:xfrm>
            <a:off x="1993392" y="5404104"/>
            <a:ext cx="80924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DDE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本汇报沿着“定义 </a:t>
            </a:r>
            <a:r>
              <a:rPr lang="en-US" sz="1250" dirty="0">
                <a:solidFill>
                  <a:srgbClr val="DDE9F4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Trap </a:t>
            </a:r>
            <a:r>
              <a:rPr lang="en-US" sz="1250" dirty="0">
                <a:solidFill>
                  <a:srgbClr val="DDE9F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构建信号 → 在线判别 → 闭环救回”展开。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oboWis_unpack/ppt/media/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735" y="128016"/>
            <a:ext cx="1010489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55648" y="155448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ROBOT-WHISPER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7406640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06640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动机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8065008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65008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723376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23376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9381744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381744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0040112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40112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0698480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698480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计划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11384280" y="128016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3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11480" y="557784"/>
            <a:ext cx="11365992" cy="0"/>
          </a:xfrm>
          <a:prstGeom prst="line">
            <a:avLst/>
          </a:prstGeom>
          <a:noFill/>
          <a:ln w="11430">
            <a:solidFill>
              <a:srgbClr val="C7D6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5488" y="749808"/>
            <a:ext cx="50292" cy="402336"/>
          </a:xfrm>
          <a:prstGeom prst="rect">
            <a:avLst/>
          </a:prstGeom>
          <a:solidFill>
            <a:srgbClr val="2A69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694944"/>
            <a:ext cx="1060704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动机：从语言推理的内部信号，走向具身决策</a:t>
            </a:r>
            <a:endParaRPr lang="en-US" sz="2500" dirty="0"/>
          </a:p>
        </p:txBody>
      </p:sp>
      <p:sp>
        <p:nvSpPr>
          <p:cNvPr id="20" name="Shape 17"/>
          <p:cNvSpPr/>
          <p:nvPr/>
        </p:nvSpPr>
        <p:spPr>
          <a:xfrm>
            <a:off x="411480" y="6583680"/>
            <a:ext cx="11365992" cy="0"/>
          </a:xfrm>
          <a:prstGeom prst="line">
            <a:avLst/>
          </a:prstGeom>
          <a:noFill/>
          <a:ln w="6985">
            <a:solidFill>
              <a:srgbClr val="C7D6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5488" y="6620256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VLA internal routing · trap alarm · online recovery</a:t>
            </a:r>
            <a:endParaRPr lang="en-US" sz="8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8869680" y="6620256"/>
            <a:ext cx="288036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复旦大学 · Robot-Whisper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02920" y="1325880"/>
            <a:ext cx="3337560" cy="43434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0160">
            <a:solidFill>
              <a:srgbClr val="C7D6E6"/>
            </a:solidFill>
            <a:prstDash val="solid"/>
          </a:ln>
          <a:effectLst>
            <a:outerShdw blurRad="15240" dist="50800" dir="2700000" algn="bl" rotWithShape="0">
              <a:srgbClr val="7F8C99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13232" y="1517904"/>
            <a:ext cx="749808" cy="274320"/>
          </a:xfrm>
          <a:prstGeom prst="roundRect">
            <a:avLst>
              <a:gd name="adj" fmla="val 20000"/>
            </a:avLst>
          </a:prstGeom>
          <a:solidFill>
            <a:srgbClr val="2A69AC"/>
          </a:solidFill>
          <a:ln w="12700">
            <a:solidFill>
              <a:srgbClr val="2A69A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13232" y="1517904"/>
            <a:ext cx="74980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NAD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1609344" y="1490472"/>
            <a:ext cx="18745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73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内部一致性可用于选择</a:t>
            </a:r>
            <a:endParaRPr lang="en-US" sz="1550" dirty="0"/>
          </a:p>
        </p:txBody>
      </p:sp>
      <p:pic>
        <p:nvPicPr>
          <p:cNvPr id="27" name="Image 1" descr="/mnt/data/roboWis_unpack/ppt/media/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809" y="1947672"/>
            <a:ext cx="2573783" cy="1993392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804672" y="416966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8C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5"/>
          <p:cNvSpPr txBox="1"/>
          <p:nvPr/>
        </p:nvSpPr>
        <p:spPr>
          <a:xfrm>
            <a:off x="1078992" y="4059936"/>
            <a:ext cx="2432304" cy="5303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用神经元激活的稀疏性与跨样本一致性评估候选。</a:t>
            </a:r>
            <a:endParaRPr lang="en-US" sz="1320" dirty="0"/>
          </a:p>
        </p:txBody>
      </p:sp>
      <p:sp>
        <p:nvSpPr>
          <p:cNvPr id="30" name="Text 26"/>
          <p:cNvSpPr txBox="1"/>
          <p:nvPr/>
        </p:nvSpPr>
        <p:spPr>
          <a:xfrm>
            <a:off x="804672" y="479145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8C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7"/>
          <p:cNvSpPr txBox="1"/>
          <p:nvPr/>
        </p:nvSpPr>
        <p:spPr>
          <a:xfrm>
            <a:off x="1078992" y="4681728"/>
            <a:ext cx="2432304" cy="5303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说明内部状态包含输出概率难以压缩的高维结构。</a:t>
            </a:r>
            <a:endParaRPr lang="en-US" sz="1320" dirty="0"/>
          </a:p>
        </p:txBody>
      </p:sp>
      <p:sp>
        <p:nvSpPr>
          <p:cNvPr id="32" name="Shape 28"/>
          <p:cNvSpPr/>
          <p:nvPr/>
        </p:nvSpPr>
        <p:spPr>
          <a:xfrm>
            <a:off x="4096512" y="1325880"/>
            <a:ext cx="3337560" cy="43434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0160">
            <a:solidFill>
              <a:srgbClr val="C7D6E6"/>
            </a:solidFill>
            <a:prstDash val="solid"/>
          </a:ln>
          <a:effectLst>
            <a:outerShdw blurRad="15240" dist="50800" dir="2700000" algn="bl" rotWithShape="0">
              <a:srgbClr val="7F8C99">
                <a:alpha val="10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4315968" y="1517904"/>
            <a:ext cx="841248" cy="274320"/>
          </a:xfrm>
          <a:prstGeom prst="roundRect">
            <a:avLst>
              <a:gd name="adj" fmla="val 20000"/>
            </a:avLst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4315968" y="1517904"/>
            <a:ext cx="84124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TAAR</a:t>
            </a:r>
            <a:endParaRPr lang="en-US" sz="1100" dirty="0"/>
          </a:p>
        </p:txBody>
      </p:sp>
      <p:sp>
        <p:nvSpPr>
          <p:cNvPr id="35" name="Text 31"/>
          <p:cNvSpPr txBox="1"/>
          <p:nvPr/>
        </p:nvSpPr>
        <p:spPr>
          <a:xfrm>
            <a:off x="5303520" y="1490472"/>
            <a:ext cx="178308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73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内部诊断可触发重启</a:t>
            </a:r>
            <a:endParaRPr lang="en-US" sz="1550" dirty="0"/>
          </a:p>
        </p:txBody>
      </p:sp>
      <p:pic>
        <p:nvPicPr>
          <p:cNvPr id="36" name="Image 2" descr="/mnt/data/roboWis_unpack/ppt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475" y="1920240"/>
            <a:ext cx="2523067" cy="2057400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4389120" y="416966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8C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300" dirty="0"/>
          </a:p>
        </p:txBody>
      </p:sp>
      <p:sp>
        <p:nvSpPr>
          <p:cNvPr id="38" name="Text 33"/>
          <p:cNvSpPr txBox="1"/>
          <p:nvPr/>
        </p:nvSpPr>
        <p:spPr>
          <a:xfrm>
            <a:off x="4663440" y="4059936"/>
            <a:ext cx="2423160" cy="5303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</a:t>
            </a:r>
            <a:r>
              <a:rPr lang="en-US" sz="132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Thinking Trap</a:t>
            </a:r>
            <a:r>
              <a:rPr lang="en-US" sz="1320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”使后续推理不断加深，却无法修正根错误。</a:t>
            </a:r>
            <a:endParaRPr lang="en-US" sz="1320" dirty="0"/>
          </a:p>
        </p:txBody>
      </p:sp>
      <p:sp>
        <p:nvSpPr>
          <p:cNvPr id="39" name="Text 34"/>
          <p:cNvSpPr txBox="1"/>
          <p:nvPr/>
        </p:nvSpPr>
        <p:spPr>
          <a:xfrm>
            <a:off x="4389120" y="479145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8C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1300" dirty="0"/>
          </a:p>
        </p:txBody>
      </p:sp>
      <p:sp>
        <p:nvSpPr>
          <p:cNvPr id="40" name="Text 35"/>
          <p:cNvSpPr txBox="1"/>
          <p:nvPr/>
        </p:nvSpPr>
        <p:spPr>
          <a:xfrm>
            <a:off x="4663440" y="4681728"/>
            <a:ext cx="2423160" cy="5303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定位 </a:t>
            </a:r>
            <a:r>
              <a:rPr lang="en-US" sz="132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trap index</a:t>
            </a:r>
            <a:r>
              <a:rPr lang="en-US" sz="1320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，并以不同强度的</a:t>
            </a:r>
            <a:r>
              <a:rPr lang="en-US" sz="132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 restart</a:t>
            </a:r>
            <a:r>
              <a:rPr lang="en-US" sz="1320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重新采样。</a:t>
            </a:r>
            <a:endParaRPr lang="en-US" sz="1320" dirty="0"/>
          </a:p>
        </p:txBody>
      </p:sp>
      <p:sp>
        <p:nvSpPr>
          <p:cNvPr id="41" name="Shape 36"/>
          <p:cNvSpPr/>
          <p:nvPr/>
        </p:nvSpPr>
        <p:spPr>
          <a:xfrm>
            <a:off x="7699248" y="1325880"/>
            <a:ext cx="3977640" cy="4343400"/>
          </a:xfrm>
          <a:prstGeom prst="roundRect">
            <a:avLst>
              <a:gd name="adj" fmla="val 1839"/>
            </a:avLst>
          </a:prstGeom>
          <a:solidFill>
            <a:srgbClr val="F4F7FB"/>
          </a:solidFill>
          <a:ln w="10160">
            <a:solidFill>
              <a:srgbClr val="2A69AC"/>
            </a:solidFill>
            <a:prstDash val="solid"/>
          </a:ln>
          <a:effectLst>
            <a:outerShdw blurRad="15240" dist="50800" dir="2700000" algn="bl" rotWithShape="0">
              <a:srgbClr val="7F8C99">
                <a:alpha val="10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7936992" y="1517904"/>
            <a:ext cx="1097280" cy="274320"/>
          </a:xfrm>
          <a:prstGeom prst="roundRect">
            <a:avLst>
              <a:gd name="adj" fmla="val 20000"/>
            </a:avLst>
          </a:prstGeom>
          <a:solidFill>
            <a:srgbClr val="C84A45"/>
          </a:solidFill>
          <a:ln w="12700">
            <a:solidFill>
              <a:srgbClr val="C84A45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7936992" y="151790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VLA 缺口</a:t>
            </a:r>
            <a:endParaRPr lang="en-US" sz="1100" dirty="0"/>
          </a:p>
        </p:txBody>
      </p:sp>
      <p:pic>
        <p:nvPicPr>
          <p:cNvPr id="44" name="Image 3" descr="/mnt/data/roboWis_unpack/ppt/media/image5.png"/>
          <p:cNvPicPr>
            <a:picLocks noChangeAspect="1"/>
          </p:cNvPicPr>
          <p:nvPr/>
        </p:nvPicPr>
        <p:blipFill>
          <a:blip r:embed="rId4"/>
          <a:srcRect t="49" b="49"/>
          <a:stretch>
            <a:fillRect/>
          </a:stretch>
        </p:blipFill>
        <p:spPr>
          <a:xfrm>
            <a:off x="8001000" y="1920240"/>
            <a:ext cx="1517904" cy="1517904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9747504" y="1920240"/>
            <a:ext cx="1517904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20" b="1" dirty="0">
                <a:solidFill>
                  <a:srgbClr val="C84A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但具身场景更难</a:t>
            </a:r>
            <a:endParaRPr lang="en-US" sz="1620" dirty="0"/>
          </a:p>
        </p:txBody>
      </p:sp>
      <p:sp>
        <p:nvSpPr>
          <p:cNvPr id="46" name="Text 40"/>
          <p:cNvSpPr txBox="1"/>
          <p:nvPr/>
        </p:nvSpPr>
        <p:spPr>
          <a:xfrm>
            <a:off x="9729216" y="2359152"/>
            <a:ext cx="1536192" cy="14264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20000"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输出是连续 </a:t>
            </a:r>
            <a:r>
              <a:rPr lang="en-US" sz="132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action chunk</a:t>
            </a:r>
            <a:endParaRPr lang="en-US" sz="132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sz="1320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每次推理都接收新观测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错误会改变物理环境</a:t>
            </a:r>
            <a:endParaRPr lang="en-US" sz="1320" dirty="0"/>
          </a:p>
          <a:p>
            <a:pPr marL="0" indent="0" algn="l">
              <a:buNone/>
            </a:pPr>
            <a:r>
              <a:rPr lang="en-US" sz="1320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• 需要在安全约束下恢复</a:t>
            </a:r>
            <a:endParaRPr lang="en-US" sz="1320" dirty="0"/>
          </a:p>
        </p:txBody>
      </p:sp>
      <p:sp>
        <p:nvSpPr>
          <p:cNvPr id="47" name="Shape 41"/>
          <p:cNvSpPr/>
          <p:nvPr/>
        </p:nvSpPr>
        <p:spPr>
          <a:xfrm>
            <a:off x="8019288" y="3867912"/>
            <a:ext cx="3300984" cy="0"/>
          </a:xfrm>
          <a:prstGeom prst="line">
            <a:avLst/>
          </a:prstGeom>
          <a:noFill/>
          <a:ln w="10160">
            <a:solidFill>
              <a:srgbClr val="C7D6E6"/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8046720" y="4069080"/>
            <a:ext cx="95097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3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核心问题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8046720" y="4389120"/>
            <a:ext cx="3163824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 lnSpcReduction="20000"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0D2F5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Trap</a:t>
            </a:r>
            <a:r>
              <a:rPr lang="en-US" sz="1750" b="1" dirty="0">
                <a:solidFill>
                  <a:srgbClr val="0D2F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是否也留下可提前读取的内部路由痕迹？</a:t>
            </a:r>
            <a:endParaRPr lang="en-US" sz="1750" dirty="0"/>
          </a:p>
        </p:txBody>
      </p:sp>
      <p:sp>
        <p:nvSpPr>
          <p:cNvPr id="50" name="Text 44"/>
          <p:cNvSpPr txBox="1"/>
          <p:nvPr/>
        </p:nvSpPr>
        <p:spPr>
          <a:xfrm>
            <a:off x="8046720" y="5029200"/>
            <a:ext cx="316382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5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若能读取，是否可在超时之前触发救回？</a:t>
            </a:r>
            <a:endParaRPr lang="en-US" sz="1450" dirty="0"/>
          </a:p>
        </p:txBody>
      </p:sp>
      <p:sp>
        <p:nvSpPr>
          <p:cNvPr id="51" name="Text 45"/>
          <p:cNvSpPr txBox="1"/>
          <p:nvPr/>
        </p:nvSpPr>
        <p:spPr>
          <a:xfrm>
            <a:off x="685800" y="5870448"/>
            <a:ext cx="107442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迁移关系：</a:t>
            </a:r>
            <a:r>
              <a:rPr lang="en-US" sz="1200" i="1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reasoning trace → interaction trajectory；restart → checkpointed rollout</a:t>
            </a:r>
            <a:endParaRPr lang="en-US" sz="12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oboWis_unpack/ppt/media/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735" y="128016"/>
            <a:ext cx="1010489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55648" y="155448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ROBOT-WHISPER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7406640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06640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动机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8065008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65008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723376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23376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9381744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381744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0040112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40112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0698480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698480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计划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11384280" y="128016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3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11480" y="557784"/>
            <a:ext cx="11365992" cy="0"/>
          </a:xfrm>
          <a:prstGeom prst="line">
            <a:avLst/>
          </a:prstGeom>
          <a:noFill/>
          <a:ln w="11430">
            <a:solidFill>
              <a:srgbClr val="C7D6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5488" y="749808"/>
            <a:ext cx="50292" cy="402336"/>
          </a:xfrm>
          <a:prstGeom prst="rect">
            <a:avLst/>
          </a:prstGeom>
          <a:solidFill>
            <a:srgbClr val="2A69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694944"/>
            <a:ext cx="1060704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我们研究的不是所有失败，而是“可干预的 </a:t>
            </a:r>
            <a:r>
              <a:rPr lang="en-US" sz="2500" b="1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Trap</a:t>
            </a:r>
            <a:r>
              <a:rPr lang="en-US" sz="25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”</a:t>
            </a:r>
            <a:endParaRPr lang="en-US" sz="2500" dirty="0"/>
          </a:p>
        </p:txBody>
      </p:sp>
      <p:sp>
        <p:nvSpPr>
          <p:cNvPr id="20" name="Shape 17"/>
          <p:cNvSpPr/>
          <p:nvPr/>
        </p:nvSpPr>
        <p:spPr>
          <a:xfrm>
            <a:off x="411480" y="6583680"/>
            <a:ext cx="11365992" cy="0"/>
          </a:xfrm>
          <a:prstGeom prst="line">
            <a:avLst/>
          </a:prstGeom>
          <a:noFill/>
          <a:ln w="6985">
            <a:solidFill>
              <a:srgbClr val="C7D6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5488" y="6620256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VLA internal routing · trap alarm · online recovery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8869680" y="6620256"/>
            <a:ext cx="288036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复旦大学 · Robot-Whisper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66928" y="1280160"/>
            <a:ext cx="11045952" cy="786384"/>
          </a:xfrm>
          <a:prstGeom prst="roundRect">
            <a:avLst>
              <a:gd name="adj" fmla="val 9302"/>
            </a:avLst>
          </a:prstGeom>
          <a:solidFill>
            <a:srgbClr val="EAF2FA"/>
          </a:solidFill>
          <a:ln w="10160">
            <a:solidFill>
              <a:srgbClr val="EAF2F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1481328"/>
            <a:ext cx="114300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69A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操作性定义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865376" y="1353312"/>
            <a:ext cx="9345168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720" b="1" dirty="0">
                <a:solidFill>
                  <a:srgbClr val="0D2F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任务尚未完成时，连续多个 </a:t>
            </a:r>
            <a:r>
              <a:rPr lang="en-US" sz="1720" b="1" dirty="0">
                <a:solidFill>
                  <a:srgbClr val="0D2F5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action chunk</a:t>
            </a:r>
            <a:r>
              <a:rPr lang="en-US" sz="1720" b="1" dirty="0">
                <a:solidFill>
                  <a:srgbClr val="0D2F5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进入低进展、重复 / 振荡或错误承诺，模型持续消耗控制步，却难以回到有效策略。</a:t>
            </a:r>
            <a:endParaRPr lang="en-US" sz="1720" dirty="0"/>
          </a:p>
        </p:txBody>
      </p:sp>
      <p:sp>
        <p:nvSpPr>
          <p:cNvPr id="26" name="Shape 23"/>
          <p:cNvSpPr/>
          <p:nvPr/>
        </p:nvSpPr>
        <p:spPr>
          <a:xfrm>
            <a:off x="658368" y="2359152"/>
            <a:ext cx="3127248" cy="2523744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0160">
            <a:solidFill>
              <a:srgbClr val="C7D6E6"/>
            </a:solidFill>
            <a:prstDash val="solid"/>
          </a:ln>
          <a:effectLst>
            <a:outerShdw blurRad="15240" dist="50800" dir="2700000" algn="bl" rotWithShape="0">
              <a:srgbClr val="7F8C99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59536" y="2578608"/>
            <a:ext cx="502920" cy="502920"/>
          </a:xfrm>
          <a:prstGeom prst="ellipse">
            <a:avLst/>
          </a:prstGeom>
          <a:solidFill>
            <a:srgbClr val="2A69AC"/>
          </a:solidFill>
          <a:ln w="12700">
            <a:solidFill>
              <a:srgbClr val="2A69A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59536" y="257860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1517904" y="24871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A69A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停滞型</a:t>
            </a:r>
            <a:endParaRPr lang="en-US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1517904" y="2834640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6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Progress Stall</a:t>
            </a:r>
            <a:endParaRPr lang="en-US" sz="10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1042416" y="3392424"/>
            <a:ext cx="2313432" cy="0"/>
          </a:xfrm>
          <a:prstGeom prst="line">
            <a:avLst/>
          </a:prstGeom>
          <a:noFill/>
          <a:ln w="10160">
            <a:solidFill>
              <a:srgbClr val="C7D6E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042416" y="3355848"/>
            <a:ext cx="320040" cy="82296"/>
          </a:xfrm>
          <a:prstGeom prst="line">
            <a:avLst/>
          </a:prstGeom>
          <a:noFill/>
          <a:ln w="25400">
            <a:solidFill>
              <a:srgbClr val="2A69A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362456" y="3291840"/>
            <a:ext cx="320040" cy="64008"/>
          </a:xfrm>
          <a:prstGeom prst="line">
            <a:avLst/>
          </a:prstGeom>
          <a:noFill/>
          <a:ln w="25400">
            <a:solidFill>
              <a:srgbClr val="2A69A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682496" y="3282696"/>
            <a:ext cx="320040" cy="9144"/>
          </a:xfrm>
          <a:prstGeom prst="line">
            <a:avLst/>
          </a:prstGeom>
          <a:noFill/>
          <a:ln w="25400">
            <a:solidFill>
              <a:srgbClr val="2A69A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002536" y="3273552"/>
            <a:ext cx="320040" cy="9144"/>
          </a:xfrm>
          <a:prstGeom prst="line">
            <a:avLst/>
          </a:prstGeom>
          <a:noFill/>
          <a:ln w="25400">
            <a:solidFill>
              <a:srgbClr val="2A69A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22576" y="3273552"/>
            <a:ext cx="320040" cy="0"/>
          </a:xfrm>
          <a:prstGeom prst="line">
            <a:avLst/>
          </a:prstGeom>
          <a:noFill/>
          <a:ln w="25400">
            <a:solidFill>
              <a:srgbClr val="2A69A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642616" y="3264408"/>
            <a:ext cx="320040" cy="9144"/>
          </a:xfrm>
          <a:prstGeom prst="line">
            <a:avLst/>
          </a:prstGeom>
          <a:noFill/>
          <a:ln w="25400">
            <a:solidFill>
              <a:srgbClr val="2A69A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962656" y="3264408"/>
            <a:ext cx="347472" cy="0"/>
          </a:xfrm>
          <a:prstGeom prst="line">
            <a:avLst/>
          </a:prstGeom>
          <a:noFill/>
          <a:ln w="25400">
            <a:solidFill>
              <a:srgbClr val="2A69A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005840" y="3877056"/>
            <a:ext cx="2487168" cy="7498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末端执行器或目标进度长期近似不变；模型反复微调却没有有效推进。</a:t>
            </a:r>
            <a:endParaRPr lang="en-US" sz="1340" dirty="0"/>
          </a:p>
        </p:txBody>
      </p:sp>
      <p:sp>
        <p:nvSpPr>
          <p:cNvPr id="40" name="Shape 37"/>
          <p:cNvSpPr/>
          <p:nvPr/>
        </p:nvSpPr>
        <p:spPr>
          <a:xfrm>
            <a:off x="4206240" y="2359152"/>
            <a:ext cx="3127248" cy="2523744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0160">
            <a:solidFill>
              <a:srgbClr val="C7D6E6"/>
            </a:solidFill>
            <a:prstDash val="solid"/>
          </a:ln>
          <a:effectLst>
            <a:outerShdw blurRad="15240" dist="50800" dir="2700000" algn="bl" rotWithShape="0">
              <a:srgbClr val="7F8C99">
                <a:alpha val="10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4407408" y="2578608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407408" y="257860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065776" y="24871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E8A3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循环 / 振荡型</a:t>
            </a:r>
            <a:endParaRPr lang="en-US" sz="1900" dirty="0"/>
          </a:p>
        </p:txBody>
      </p:sp>
      <p:sp>
        <p:nvSpPr>
          <p:cNvPr id="44" name="Text 41"/>
          <p:cNvSpPr txBox="1"/>
          <p:nvPr/>
        </p:nvSpPr>
        <p:spPr>
          <a:xfrm>
            <a:off x="5065776" y="2834640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6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Loop / Oscillation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4590288" y="3392424"/>
            <a:ext cx="2313432" cy="0"/>
          </a:xfrm>
          <a:prstGeom prst="line">
            <a:avLst/>
          </a:prstGeom>
          <a:noFill/>
          <a:ln w="10160">
            <a:solidFill>
              <a:srgbClr val="C7D6E6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590288" y="3191256"/>
            <a:ext cx="310896" cy="18288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901184" y="3191256"/>
            <a:ext cx="310896" cy="201168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212080" y="3200400"/>
            <a:ext cx="310896" cy="192024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522976" y="3200400"/>
            <a:ext cx="310896" cy="182880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833872" y="3209544"/>
            <a:ext cx="310896" cy="173736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144768" y="3209544"/>
            <a:ext cx="310896" cy="164592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455664" y="3218688"/>
            <a:ext cx="310896" cy="155448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553712" y="3877056"/>
            <a:ext cx="2487168" cy="7498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动作或路由在少数模式之间往复切换，形成局部循环。</a:t>
            </a:r>
            <a:endParaRPr lang="en-US" sz="1340" dirty="0"/>
          </a:p>
        </p:txBody>
      </p:sp>
      <p:sp>
        <p:nvSpPr>
          <p:cNvPr id="54" name="Shape 51"/>
          <p:cNvSpPr/>
          <p:nvPr/>
        </p:nvSpPr>
        <p:spPr>
          <a:xfrm>
            <a:off x="7754112" y="2359152"/>
            <a:ext cx="3127248" cy="2523744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0160">
            <a:solidFill>
              <a:srgbClr val="C7D6E6"/>
            </a:solidFill>
            <a:prstDash val="solid"/>
          </a:ln>
          <a:effectLst>
            <a:outerShdw blurRad="15240" dist="50800" dir="2700000" algn="bl" rotWithShape="0">
              <a:srgbClr val="7F8C99">
                <a:alpha val="10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7955280" y="2578608"/>
            <a:ext cx="502920" cy="502920"/>
          </a:xfrm>
          <a:prstGeom prst="ellipse">
            <a:avLst/>
          </a:prstGeom>
          <a:solidFill>
            <a:srgbClr val="C84A45"/>
          </a:solidFill>
          <a:ln w="12700">
            <a:solidFill>
              <a:srgbClr val="C84A45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955280" y="257860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600" dirty="0"/>
          </a:p>
        </p:txBody>
      </p:sp>
      <p:sp>
        <p:nvSpPr>
          <p:cNvPr id="57" name="Text 54"/>
          <p:cNvSpPr txBox="1"/>
          <p:nvPr/>
        </p:nvSpPr>
        <p:spPr>
          <a:xfrm>
            <a:off x="8613648" y="2487168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C84A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错误承诺型</a:t>
            </a:r>
            <a:endParaRPr lang="en-US" sz="1900" dirty="0"/>
          </a:p>
        </p:txBody>
      </p:sp>
      <p:sp>
        <p:nvSpPr>
          <p:cNvPr id="58" name="Text 55"/>
          <p:cNvSpPr txBox="1"/>
          <p:nvPr/>
        </p:nvSpPr>
        <p:spPr>
          <a:xfrm>
            <a:off x="8613648" y="2834640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6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Wrong Commitment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8138160" y="3392424"/>
            <a:ext cx="2313432" cy="0"/>
          </a:xfrm>
          <a:prstGeom prst="line">
            <a:avLst/>
          </a:prstGeom>
          <a:noFill/>
          <a:ln w="10160">
            <a:solidFill>
              <a:srgbClr val="C7D6E6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138160" y="3364992"/>
            <a:ext cx="310896" cy="27432"/>
          </a:xfrm>
          <a:prstGeom prst="line">
            <a:avLst/>
          </a:prstGeom>
          <a:noFill/>
          <a:ln w="25400">
            <a:solidFill>
              <a:srgbClr val="C84A45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8449056" y="3300984"/>
            <a:ext cx="310896" cy="64008"/>
          </a:xfrm>
          <a:prstGeom prst="line">
            <a:avLst/>
          </a:prstGeom>
          <a:noFill/>
          <a:ln w="25400">
            <a:solidFill>
              <a:srgbClr val="C84A45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8759952" y="3227832"/>
            <a:ext cx="310896" cy="73152"/>
          </a:xfrm>
          <a:prstGeom prst="line">
            <a:avLst/>
          </a:prstGeom>
          <a:noFill/>
          <a:ln w="25400">
            <a:solidFill>
              <a:srgbClr val="C84A45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9070848" y="3182112"/>
            <a:ext cx="310896" cy="45720"/>
          </a:xfrm>
          <a:prstGeom prst="line">
            <a:avLst/>
          </a:prstGeom>
          <a:noFill/>
          <a:ln w="25400">
            <a:solidFill>
              <a:srgbClr val="C84A45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9381744" y="3163824"/>
            <a:ext cx="310896" cy="18288"/>
          </a:xfrm>
          <a:prstGeom prst="line">
            <a:avLst/>
          </a:prstGeom>
          <a:noFill/>
          <a:ln w="25400">
            <a:solidFill>
              <a:srgbClr val="C84A45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9692640" y="3154680"/>
            <a:ext cx="310896" cy="9144"/>
          </a:xfrm>
          <a:prstGeom prst="line">
            <a:avLst/>
          </a:prstGeom>
          <a:noFill/>
          <a:ln w="25400">
            <a:solidFill>
              <a:srgbClr val="C84A45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10003536" y="3154680"/>
            <a:ext cx="310896" cy="0"/>
          </a:xfrm>
          <a:prstGeom prst="line">
            <a:avLst/>
          </a:prstGeom>
          <a:noFill/>
          <a:ln w="25400">
            <a:solidFill>
              <a:srgbClr val="C84A45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10264140" y="3104388"/>
            <a:ext cx="100584" cy="100584"/>
          </a:xfrm>
          <a:prstGeom prst="ellipse">
            <a:avLst/>
          </a:prstGeom>
          <a:solidFill>
            <a:srgbClr val="C84A45"/>
          </a:solidFill>
          <a:ln w="6350">
            <a:solidFill>
              <a:srgbClr val="C84A45"/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8101584" y="3877056"/>
            <a:ext cx="2487168" cy="74980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持续朝错误子目标推进，后续重规划仍无法纠正早期承诺。</a:t>
            </a:r>
            <a:endParaRPr lang="en-US" sz="1340" dirty="0"/>
          </a:p>
        </p:txBody>
      </p:sp>
      <p:sp>
        <p:nvSpPr>
          <p:cNvPr id="69" name="Shape 66"/>
          <p:cNvSpPr/>
          <p:nvPr/>
        </p:nvSpPr>
        <p:spPr>
          <a:xfrm>
            <a:off x="658368" y="5166360"/>
            <a:ext cx="5285232" cy="896112"/>
          </a:xfrm>
          <a:prstGeom prst="roundRect">
            <a:avLst>
              <a:gd name="adj" fmla="val 8163"/>
            </a:avLst>
          </a:prstGeom>
          <a:solidFill>
            <a:srgbClr val="EEF2F6"/>
          </a:solidFill>
          <a:ln w="10160">
            <a:solidFill>
              <a:srgbClr val="EEF2F6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896112" y="5358384"/>
            <a:ext cx="132588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5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不纳入主定义</a:t>
            </a:r>
            <a:endParaRPr lang="en-US" sz="1250" dirty="0"/>
          </a:p>
        </p:txBody>
      </p:sp>
      <p:sp>
        <p:nvSpPr>
          <p:cNvPr id="71" name="Text 68"/>
          <p:cNvSpPr txBox="1"/>
          <p:nvPr/>
        </p:nvSpPr>
        <p:spPr>
          <a:xfrm>
            <a:off x="2139696" y="5276088"/>
            <a:ext cx="3456432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碰撞、不可逆物体状态、环境故障等“非策略性失败”单独统计。</a:t>
            </a:r>
            <a:endParaRPr lang="en-US" sz="1350" dirty="0"/>
          </a:p>
        </p:txBody>
      </p:sp>
      <p:sp>
        <p:nvSpPr>
          <p:cNvPr id="72" name="Shape 69"/>
          <p:cNvSpPr/>
          <p:nvPr/>
        </p:nvSpPr>
        <p:spPr>
          <a:xfrm>
            <a:off x="6199632" y="5166360"/>
            <a:ext cx="5047488" cy="896112"/>
          </a:xfrm>
          <a:prstGeom prst="roundRect">
            <a:avLst>
              <a:gd name="adj" fmla="val 8163"/>
            </a:avLst>
          </a:prstGeom>
          <a:solidFill>
            <a:srgbClr val="EAF2FA"/>
          </a:solidFill>
          <a:ln w="10160">
            <a:solidFill>
              <a:srgbClr val="EAF2F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6455664" y="5358384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69A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为什么看 MoE</a:t>
            </a:r>
            <a:endParaRPr lang="en-US" sz="1250" dirty="0"/>
          </a:p>
        </p:txBody>
      </p:sp>
      <p:sp>
        <p:nvSpPr>
          <p:cNvPr id="74" name="Text 71"/>
          <p:cNvSpPr txBox="1"/>
          <p:nvPr/>
        </p:nvSpPr>
        <p:spPr>
          <a:xfrm>
            <a:off x="7827264" y="5257800"/>
            <a:ext cx="3063240" cy="4297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路由记录了每个 chunk 在哪些专家子空间中计算，可作为高维内部状态候选。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oboWis_unpack/ppt/media/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735" y="128016"/>
            <a:ext cx="1010489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55648" y="155448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ROBOT-WHISPER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7406640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06640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动机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8065008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65008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723376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23376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9381744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381744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0040112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40112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0698480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698480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计划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11384280" y="128016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3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11480" y="557784"/>
            <a:ext cx="11365992" cy="0"/>
          </a:xfrm>
          <a:prstGeom prst="line">
            <a:avLst/>
          </a:prstGeom>
          <a:noFill/>
          <a:ln w="11430">
            <a:solidFill>
              <a:srgbClr val="C7D6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5488" y="749808"/>
            <a:ext cx="50292" cy="402336"/>
          </a:xfrm>
          <a:prstGeom prst="rect">
            <a:avLst/>
          </a:prstGeom>
          <a:solidFill>
            <a:srgbClr val="2A69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694944"/>
            <a:ext cx="1060704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三条问题链：看见、判断、干预</a:t>
            </a:r>
            <a:endParaRPr lang="en-US" sz="2500" dirty="0"/>
          </a:p>
        </p:txBody>
      </p:sp>
      <p:sp>
        <p:nvSpPr>
          <p:cNvPr id="20" name="Shape 17"/>
          <p:cNvSpPr/>
          <p:nvPr/>
        </p:nvSpPr>
        <p:spPr>
          <a:xfrm>
            <a:off x="411480" y="6583680"/>
            <a:ext cx="11365992" cy="0"/>
          </a:xfrm>
          <a:prstGeom prst="line">
            <a:avLst/>
          </a:prstGeom>
          <a:noFill/>
          <a:ln w="6985">
            <a:solidFill>
              <a:srgbClr val="C7D6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5488" y="6620256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VLA internal routing · trap alarm · online recovery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8869680" y="6620256"/>
            <a:ext cx="288036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复旦大学 · Robot-Whisper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1792" y="1417320"/>
            <a:ext cx="3154680" cy="3639312"/>
          </a:xfrm>
          <a:prstGeom prst="roundRect">
            <a:avLst>
              <a:gd name="adj" fmla="val 2319"/>
            </a:avLst>
          </a:prstGeom>
          <a:solidFill>
            <a:srgbClr val="EAF2FA"/>
          </a:solidFill>
          <a:ln w="10160">
            <a:solidFill>
              <a:srgbClr val="EAF2FA"/>
            </a:solidFill>
            <a:prstDash val="solid"/>
          </a:ln>
          <a:effectLst>
            <a:outerShdw blurRad="15240" dist="50800" dir="2700000" algn="bl" rotWithShape="0">
              <a:srgbClr val="7F8C99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77824" y="1673352"/>
            <a:ext cx="676656" cy="301752"/>
          </a:xfrm>
          <a:prstGeom prst="roundRect">
            <a:avLst>
              <a:gd name="adj" fmla="val 27273"/>
            </a:avLst>
          </a:prstGeom>
          <a:solidFill>
            <a:srgbClr val="2A69AC"/>
          </a:solidFill>
          <a:ln w="8890">
            <a:solidFill>
              <a:srgbClr val="2A69A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77824" y="1673352"/>
            <a:ext cx="676656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RQ1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1719072" y="1609344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A69A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机制</a:t>
            </a:r>
            <a:endParaRPr lang="en-US" sz="2100" dirty="0"/>
          </a:p>
        </p:txBody>
      </p:sp>
      <p:sp>
        <p:nvSpPr>
          <p:cNvPr id="27" name="Text 24"/>
          <p:cNvSpPr txBox="1"/>
          <p:nvPr/>
        </p:nvSpPr>
        <p:spPr>
          <a:xfrm>
            <a:off x="932688" y="2331720"/>
            <a:ext cx="2514600" cy="14813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Trap 出现时，路由在何时、何层、何个 token 位置发生结构性变化？</a:t>
            </a:r>
            <a:endParaRPr lang="en-US" sz="1700" dirty="0"/>
          </a:p>
        </p:txBody>
      </p:sp>
      <p:sp>
        <p:nvSpPr>
          <p:cNvPr id="28" name="Shape 25"/>
          <p:cNvSpPr/>
          <p:nvPr/>
        </p:nvSpPr>
        <p:spPr>
          <a:xfrm>
            <a:off x="932688" y="4087368"/>
            <a:ext cx="2523744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32688" y="4297680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A69A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已有初步证据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4160520" y="1417320"/>
            <a:ext cx="3154680" cy="3639312"/>
          </a:xfrm>
          <a:prstGeom prst="roundRect">
            <a:avLst>
              <a:gd name="adj" fmla="val 2319"/>
            </a:avLst>
          </a:prstGeom>
          <a:solidFill>
            <a:srgbClr val="FFF4DF"/>
          </a:solidFill>
          <a:ln w="10160">
            <a:solidFill>
              <a:srgbClr val="FFF4DF"/>
            </a:solidFill>
            <a:prstDash val="solid"/>
          </a:ln>
          <a:effectLst>
            <a:outerShdw blurRad="15240" dist="50800" dir="2700000" algn="bl" rotWithShape="0">
              <a:srgbClr val="7F8C99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416552" y="1673352"/>
            <a:ext cx="676656" cy="301752"/>
          </a:xfrm>
          <a:prstGeom prst="roundRect">
            <a:avLst>
              <a:gd name="adj" fmla="val 27273"/>
            </a:avLst>
          </a:prstGeom>
          <a:solidFill>
            <a:srgbClr val="E8A33D"/>
          </a:solidFill>
          <a:ln w="8890">
            <a:solidFill>
              <a:srgbClr val="E8A33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416552" y="1673352"/>
            <a:ext cx="676656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RQ2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5257800" y="1609344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8A3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检测</a:t>
            </a:r>
            <a:endParaRPr lang="en-US" sz="2100" dirty="0"/>
          </a:p>
        </p:txBody>
      </p:sp>
      <p:sp>
        <p:nvSpPr>
          <p:cNvPr id="34" name="Text 31"/>
          <p:cNvSpPr txBox="1"/>
          <p:nvPr/>
        </p:nvSpPr>
        <p:spPr>
          <a:xfrm>
            <a:off x="4471416" y="2331720"/>
            <a:ext cx="2514600" cy="14813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能否仅用当前与历史 routing window 在线报警，并获得可用的提前量？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4471416" y="4087368"/>
            <a:ext cx="2523744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471416" y="4297680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8A3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原型已搭建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7699248" y="1417320"/>
            <a:ext cx="3154680" cy="3639312"/>
          </a:xfrm>
          <a:prstGeom prst="roundRect">
            <a:avLst>
              <a:gd name="adj" fmla="val 2319"/>
            </a:avLst>
          </a:prstGeom>
          <a:solidFill>
            <a:srgbClr val="E6F4F1"/>
          </a:solidFill>
          <a:ln w="10160">
            <a:solidFill>
              <a:srgbClr val="E6F4F1"/>
            </a:solidFill>
            <a:prstDash val="solid"/>
          </a:ln>
          <a:effectLst>
            <a:outerShdw blurRad="15240" dist="50800" dir="2700000" algn="bl" rotWithShape="0">
              <a:srgbClr val="7F8C99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7955280" y="1673352"/>
            <a:ext cx="676656" cy="301752"/>
          </a:xfrm>
          <a:prstGeom prst="roundRect">
            <a:avLst>
              <a:gd name="adj" fmla="val 27273"/>
            </a:avLst>
          </a:prstGeom>
          <a:solidFill>
            <a:srgbClr val="2E8C7D"/>
          </a:solidFill>
          <a:ln w="8890">
            <a:solidFill>
              <a:srgbClr val="2E8C7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955280" y="1673352"/>
            <a:ext cx="676656" cy="3017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RQ3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8796528" y="1609344"/>
            <a:ext cx="160020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E8C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救回与预测</a:t>
            </a:r>
            <a:endParaRPr lang="en-US" sz="2100" dirty="0"/>
          </a:p>
        </p:txBody>
      </p:sp>
      <p:sp>
        <p:nvSpPr>
          <p:cNvPr id="41" name="Text 38"/>
          <p:cNvSpPr txBox="1"/>
          <p:nvPr/>
        </p:nvSpPr>
        <p:spPr>
          <a:xfrm>
            <a:off x="8010144" y="2331720"/>
            <a:ext cx="2514600" cy="14813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报警后能否通过轻量 rollout 救回；更早的前缀是否已包含整条轨迹质量信号？</a:t>
            </a:r>
            <a:endParaRPr lang="en-US" sz="1700" dirty="0"/>
          </a:p>
        </p:txBody>
      </p:sp>
      <p:sp>
        <p:nvSpPr>
          <p:cNvPr id="42" name="Shape 39"/>
          <p:cNvSpPr/>
          <p:nvPr/>
        </p:nvSpPr>
        <p:spPr>
          <a:xfrm>
            <a:off x="8010144" y="4087368"/>
            <a:ext cx="2523744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010144" y="4297680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8C7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正在验证</a:t>
            </a:r>
            <a:endParaRPr lang="en-US" sz="1250" dirty="0"/>
          </a:p>
        </p:txBody>
      </p:sp>
      <p:sp>
        <p:nvSpPr>
          <p:cNvPr id="44" name="Text 41"/>
          <p:cNvSpPr txBox="1"/>
          <p:nvPr/>
        </p:nvSpPr>
        <p:spPr>
          <a:xfrm>
            <a:off x="658368" y="5413248"/>
            <a:ext cx="230428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73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预期形成的四个可交付物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2971800" y="5303520"/>
            <a:ext cx="1883664" cy="502920"/>
          </a:xfrm>
          <a:prstGeom prst="roundRect">
            <a:avLst>
              <a:gd name="adj" fmla="val 16364"/>
            </a:avLst>
          </a:prstGeom>
          <a:solidFill>
            <a:srgbClr val="EAF2FA"/>
          </a:solidFill>
          <a:ln w="8890">
            <a:solidFill>
              <a:srgbClr val="C7D6E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2971800" y="5303520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73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Trap 轨迹定义与标签</a:t>
            </a:r>
            <a:endParaRPr lang="en-US" sz="1230" dirty="0"/>
          </a:p>
        </p:txBody>
      </p:sp>
      <p:sp>
        <p:nvSpPr>
          <p:cNvPr id="47" name="Shape 44"/>
          <p:cNvSpPr/>
          <p:nvPr/>
        </p:nvSpPr>
        <p:spPr>
          <a:xfrm>
            <a:off x="5001768" y="5303520"/>
            <a:ext cx="1883664" cy="502920"/>
          </a:xfrm>
          <a:prstGeom prst="roundRect">
            <a:avLst>
              <a:gd name="adj" fmla="val 16364"/>
            </a:avLst>
          </a:prstGeom>
          <a:solidFill>
            <a:srgbClr val="EAF2FA"/>
          </a:solidFill>
          <a:ln w="8890">
            <a:solidFill>
              <a:srgbClr val="C7D6E6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001768" y="5303520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73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路由动态识别器</a:t>
            </a:r>
            <a:endParaRPr lang="en-US" sz="1230" dirty="0"/>
          </a:p>
        </p:txBody>
      </p:sp>
      <p:sp>
        <p:nvSpPr>
          <p:cNvPr id="49" name="Shape 46"/>
          <p:cNvSpPr/>
          <p:nvPr/>
        </p:nvSpPr>
        <p:spPr>
          <a:xfrm>
            <a:off x="7031736" y="5303520"/>
            <a:ext cx="1883664" cy="502920"/>
          </a:xfrm>
          <a:prstGeom prst="roundRect">
            <a:avLst>
              <a:gd name="adj" fmla="val 16364"/>
            </a:avLst>
          </a:prstGeom>
          <a:solidFill>
            <a:srgbClr val="EEF2F6"/>
          </a:solidFill>
          <a:ln w="8890">
            <a:solidFill>
              <a:srgbClr val="EEF2F6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031736" y="5303520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73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在线救回控制器</a:t>
            </a:r>
            <a:endParaRPr lang="en-US" sz="1230" dirty="0"/>
          </a:p>
        </p:txBody>
      </p:sp>
      <p:sp>
        <p:nvSpPr>
          <p:cNvPr id="51" name="Shape 48"/>
          <p:cNvSpPr/>
          <p:nvPr/>
        </p:nvSpPr>
        <p:spPr>
          <a:xfrm>
            <a:off x="9061704" y="5303520"/>
            <a:ext cx="1883664" cy="502920"/>
          </a:xfrm>
          <a:prstGeom prst="roundRect">
            <a:avLst>
              <a:gd name="adj" fmla="val 16364"/>
            </a:avLst>
          </a:prstGeom>
          <a:solidFill>
            <a:srgbClr val="EEF2F6"/>
          </a:solidFill>
          <a:ln w="8890">
            <a:solidFill>
              <a:srgbClr val="EEF2F6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061704" y="5303520"/>
            <a:ext cx="1883664" cy="5029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73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早期质量预测器</a:t>
            </a:r>
            <a:endParaRPr lang="en-US" sz="12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oboWis_unpack/ppt/media/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735" y="128016"/>
            <a:ext cx="1010489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55648" y="155448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ROBOT-WHISPER</a:t>
            </a:r>
            <a:endParaRPr lang="en-US" sz="1050" dirty="0"/>
          </a:p>
        </p:txBody>
      </p:sp>
      <p:sp>
        <p:nvSpPr>
          <p:cNvPr id="4" name="Shape 1"/>
          <p:cNvSpPr/>
          <p:nvPr/>
        </p:nvSpPr>
        <p:spPr>
          <a:xfrm>
            <a:off x="7406640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06640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动机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8065008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65008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723376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23376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9381744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381744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0040112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40112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0698480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698480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计划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11384280" y="128016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3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11480" y="557784"/>
            <a:ext cx="11365992" cy="0"/>
          </a:xfrm>
          <a:prstGeom prst="line">
            <a:avLst/>
          </a:prstGeom>
          <a:noFill/>
          <a:ln w="11430">
            <a:solidFill>
              <a:srgbClr val="C7D6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5488" y="749808"/>
            <a:ext cx="50292" cy="402336"/>
          </a:xfrm>
          <a:prstGeom prst="rect">
            <a:avLst/>
          </a:prstGeom>
          <a:solidFill>
            <a:srgbClr val="2A69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694944"/>
            <a:ext cx="1060704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整体框架：把 MoE 路由变成 VLA 的内部传感器</a:t>
            </a:r>
            <a:endParaRPr lang="en-US" sz="2500" dirty="0"/>
          </a:p>
        </p:txBody>
      </p:sp>
      <p:sp>
        <p:nvSpPr>
          <p:cNvPr id="20" name="Shape 17"/>
          <p:cNvSpPr/>
          <p:nvPr/>
        </p:nvSpPr>
        <p:spPr>
          <a:xfrm>
            <a:off x="411480" y="6583680"/>
            <a:ext cx="11365992" cy="0"/>
          </a:xfrm>
          <a:prstGeom prst="line">
            <a:avLst/>
          </a:prstGeom>
          <a:noFill/>
          <a:ln w="6985">
            <a:solidFill>
              <a:srgbClr val="C7D6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5488" y="6620256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VLA internal routing · trap alarm · online recovery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8869680" y="6620256"/>
            <a:ext cx="288036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E8A9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复旦大学 · Robot-Whisper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66928" y="1828800"/>
            <a:ext cx="1828800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2A69AC"/>
            </a:solidFill>
            <a:prstDash val="solid"/>
          </a:ln>
          <a:effectLst>
            <a:outerShdw blurRad="15240" dist="50800" dir="2700000" algn="bl" rotWithShape="0">
              <a:srgbClr val="7F8C99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31520" y="2011680"/>
            <a:ext cx="475488" cy="475488"/>
          </a:xfrm>
          <a:prstGeom prst="ellipse">
            <a:avLst/>
          </a:prstGeom>
          <a:solidFill>
            <a:srgbClr val="2A69AC"/>
          </a:solidFill>
          <a:ln w="12700">
            <a:solidFill>
              <a:srgbClr val="2A69A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1520" y="20116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1280160" y="1975104"/>
            <a:ext cx="969264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A69A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观察环境</a:t>
            </a:r>
            <a:endParaRPr lang="en-US" sz="1700" dirty="0"/>
          </a:p>
        </p:txBody>
      </p:sp>
      <p:pic>
        <p:nvPicPr>
          <p:cNvPr id="27" name="Image 1" descr="/mnt/data/roboWis_unpack/ppt/media/image5.png"/>
          <p:cNvPicPr>
            <a:picLocks noChangeAspect="1"/>
          </p:cNvPicPr>
          <p:nvPr/>
        </p:nvPicPr>
        <p:blipFill>
          <a:blip r:embed="rId2"/>
          <a:srcRect t="49" b="49"/>
          <a:stretch>
            <a:fillRect/>
          </a:stretch>
        </p:blipFill>
        <p:spPr>
          <a:xfrm>
            <a:off x="960120" y="2587752"/>
            <a:ext cx="1051560" cy="105156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984248" y="29260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sₜ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795528" y="3703320"/>
            <a:ext cx="1371600" cy="4206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image + instruction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 proprioception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2441448" y="3063240"/>
            <a:ext cx="256032" cy="0"/>
          </a:xfrm>
          <a:prstGeom prst="line">
            <a:avLst/>
          </a:prstGeom>
          <a:noFill/>
          <a:ln w="26670">
            <a:solidFill>
              <a:srgbClr val="C7D6E6"/>
            </a:solidFill>
            <a:prstDash val="solid"/>
            <a:tailEnd type="triangle"/>
          </a:ln>
        </p:spPr>
      </p:sp>
      <p:sp>
        <p:nvSpPr>
          <p:cNvPr id="31" name="Shape 27"/>
          <p:cNvSpPr/>
          <p:nvPr/>
        </p:nvSpPr>
        <p:spPr>
          <a:xfrm>
            <a:off x="2761488" y="1828800"/>
            <a:ext cx="1901952" cy="24231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397FC3"/>
            </a:solidFill>
            <a:prstDash val="solid"/>
          </a:ln>
          <a:effectLst>
            <a:outerShdw blurRad="15240" dist="50800" dir="2700000" algn="bl" rotWithShape="0">
              <a:srgbClr val="7F8C99">
                <a:alpha val="8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2926080" y="2011680"/>
            <a:ext cx="475488" cy="475488"/>
          </a:xfrm>
          <a:prstGeom prst="ellipse">
            <a:avLst/>
          </a:prstGeom>
          <a:solidFill>
            <a:srgbClr val="397FC3"/>
          </a:solidFill>
          <a:ln w="12700">
            <a:solidFill>
              <a:srgbClr val="397FC3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2926080" y="20116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150" dirty="0"/>
          </a:p>
        </p:txBody>
      </p:sp>
      <p:sp>
        <p:nvSpPr>
          <p:cNvPr id="34" name="Text 30"/>
          <p:cNvSpPr txBox="1"/>
          <p:nvPr/>
        </p:nvSpPr>
        <p:spPr>
          <a:xfrm>
            <a:off x="3474720" y="1975104"/>
            <a:ext cx="1042416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97FC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生成 chunk</a:t>
            </a:r>
            <a:endParaRPr lang="en-US" sz="1700" dirty="0"/>
          </a:p>
        </p:txBody>
      </p:sp>
      <p:sp>
        <p:nvSpPr>
          <p:cNvPr id="35" name="Shape 31"/>
          <p:cNvSpPr/>
          <p:nvPr/>
        </p:nvSpPr>
        <p:spPr>
          <a:xfrm>
            <a:off x="3090672" y="2706624"/>
            <a:ext cx="731520" cy="384048"/>
          </a:xfrm>
          <a:prstGeom prst="roundRect">
            <a:avLst>
              <a:gd name="adj" fmla="val 9524"/>
            </a:avLst>
          </a:prstGeom>
          <a:solidFill>
            <a:srgbClr val="EAF2FA"/>
          </a:solidFill>
          <a:ln w="7620">
            <a:solidFill>
              <a:srgbClr val="C7D6E6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3392424" y="2651760"/>
            <a:ext cx="731520" cy="384048"/>
          </a:xfrm>
          <a:prstGeom prst="roundRect">
            <a:avLst>
              <a:gd name="adj" fmla="val 9524"/>
            </a:avLst>
          </a:prstGeom>
          <a:solidFill>
            <a:srgbClr val="EAF2FA"/>
          </a:solidFill>
          <a:ln w="7620">
            <a:solidFill>
              <a:srgbClr val="C7D6E6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3694176" y="2596896"/>
            <a:ext cx="731520" cy="384048"/>
          </a:xfrm>
          <a:prstGeom prst="roundRect">
            <a:avLst>
              <a:gd name="adj" fmla="val 9524"/>
            </a:avLst>
          </a:prstGeom>
          <a:solidFill>
            <a:srgbClr val="EAF2FA"/>
          </a:solidFill>
          <a:ln w="7620">
            <a:solidFill>
              <a:srgbClr val="C7D6E6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3995928" y="2542032"/>
            <a:ext cx="731520" cy="384048"/>
          </a:xfrm>
          <a:prstGeom prst="roundRect">
            <a:avLst>
              <a:gd name="adj" fmla="val 9524"/>
            </a:avLst>
          </a:prstGeom>
          <a:solidFill>
            <a:srgbClr val="397FC3"/>
          </a:solidFill>
          <a:ln w="7620">
            <a:solidFill>
              <a:srgbClr val="C7D6E6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3538728" y="3236976"/>
            <a:ext cx="84124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aₜ:t+H</a:t>
            </a:r>
            <a:endParaRPr lang="en-US" sz="1300" dirty="0"/>
          </a:p>
        </p:txBody>
      </p:sp>
      <p:sp>
        <p:nvSpPr>
          <p:cNvPr id="40" name="Text 36"/>
          <p:cNvSpPr txBox="1"/>
          <p:nvPr/>
        </p:nvSpPr>
        <p:spPr>
          <a:xfrm>
            <a:off x="2990088" y="3703320"/>
            <a:ext cx="1444752" cy="4206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 轮去噪 / 流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得到 action chunk</a:t>
            </a:r>
            <a:endParaRPr lang="en-US" sz="1150" dirty="0"/>
          </a:p>
        </p:txBody>
      </p:sp>
      <p:sp>
        <p:nvSpPr>
          <p:cNvPr id="41" name="Shape 37"/>
          <p:cNvSpPr/>
          <p:nvPr/>
        </p:nvSpPr>
        <p:spPr>
          <a:xfrm>
            <a:off x="4709160" y="3063240"/>
            <a:ext cx="274320" cy="0"/>
          </a:xfrm>
          <a:prstGeom prst="line">
            <a:avLst/>
          </a:prstGeom>
          <a:noFill/>
          <a:ln w="26670">
            <a:solidFill>
              <a:srgbClr val="C7D6E6"/>
            </a:solidFill>
            <a:prstDash val="solid"/>
            <a:tailEnd type="triangle"/>
          </a:ln>
        </p:spPr>
      </p:sp>
      <p:sp>
        <p:nvSpPr>
          <p:cNvPr id="42" name="Shape 38"/>
          <p:cNvSpPr/>
          <p:nvPr/>
        </p:nvSpPr>
        <p:spPr>
          <a:xfrm>
            <a:off x="5047488" y="1828800"/>
            <a:ext cx="1901952" cy="24231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173F73"/>
            </a:solidFill>
            <a:prstDash val="solid"/>
          </a:ln>
          <a:effectLst>
            <a:outerShdw blurRad="15240" dist="50800" dir="2700000" algn="bl" rotWithShape="0">
              <a:srgbClr val="7F8C99">
                <a:alpha val="8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5212080" y="2011680"/>
            <a:ext cx="475488" cy="475488"/>
          </a:xfrm>
          <a:prstGeom prst="ellipse">
            <a:avLst/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5212080" y="20116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150" dirty="0"/>
          </a:p>
        </p:txBody>
      </p:sp>
      <p:sp>
        <p:nvSpPr>
          <p:cNvPr id="45" name="Text 41"/>
          <p:cNvSpPr txBox="1"/>
          <p:nvPr/>
        </p:nvSpPr>
        <p:spPr>
          <a:xfrm>
            <a:off x="5760720" y="1975104"/>
            <a:ext cx="1042416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73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抓取路由</a:t>
            </a:r>
            <a:endParaRPr lang="en-US" sz="1700" dirty="0"/>
          </a:p>
        </p:txBody>
      </p:sp>
      <p:sp>
        <p:nvSpPr>
          <p:cNvPr id="46" name="Shape 42"/>
          <p:cNvSpPr/>
          <p:nvPr/>
        </p:nvSpPr>
        <p:spPr>
          <a:xfrm>
            <a:off x="5431536" y="2606040"/>
            <a:ext cx="164592" cy="164592"/>
          </a:xfrm>
          <a:prstGeom prst="rect">
            <a:avLst/>
          </a:prstGeom>
          <a:solidFill>
            <a:srgbClr val="62A7D8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5660136" y="2606040"/>
            <a:ext cx="164592" cy="164592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5888736" y="2606040"/>
            <a:ext cx="164592" cy="164592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6117336" y="2606040"/>
            <a:ext cx="164592" cy="164592"/>
          </a:xfrm>
          <a:prstGeom prst="rect">
            <a:avLst/>
          </a:prstGeom>
          <a:solidFill>
            <a:srgbClr val="62A7D8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6345936" y="2606040"/>
            <a:ext cx="164592" cy="164592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5431536" y="2834640"/>
            <a:ext cx="164592" cy="164592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5660136" y="2834640"/>
            <a:ext cx="164592" cy="164592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5888736" y="2834640"/>
            <a:ext cx="164592" cy="164592"/>
          </a:xfrm>
          <a:prstGeom prst="rect">
            <a:avLst/>
          </a:prstGeom>
          <a:solidFill>
            <a:srgbClr val="62A7D8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6117336" y="2834640"/>
            <a:ext cx="164592" cy="164592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6345936" y="2834640"/>
            <a:ext cx="164592" cy="164592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5431536" y="3063240"/>
            <a:ext cx="164592" cy="164592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5660136" y="3063240"/>
            <a:ext cx="164592" cy="164592"/>
          </a:xfrm>
          <a:prstGeom prst="rect">
            <a:avLst/>
          </a:prstGeom>
          <a:solidFill>
            <a:srgbClr val="62A7D8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5888736" y="3063240"/>
            <a:ext cx="164592" cy="164592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6117336" y="3063240"/>
            <a:ext cx="164592" cy="164592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6345936" y="3063240"/>
            <a:ext cx="164592" cy="164592"/>
          </a:xfrm>
          <a:prstGeom prst="rect">
            <a:avLst/>
          </a:prstGeom>
          <a:solidFill>
            <a:srgbClr val="62A7D8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5431536" y="3291840"/>
            <a:ext cx="164592" cy="164592"/>
          </a:xfrm>
          <a:prstGeom prst="rect">
            <a:avLst/>
          </a:prstGeom>
          <a:solidFill>
            <a:srgbClr val="62A7D8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5660136" y="3291840"/>
            <a:ext cx="164592" cy="164592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5888736" y="3291840"/>
            <a:ext cx="164592" cy="164592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6117336" y="3291840"/>
            <a:ext cx="164592" cy="164592"/>
          </a:xfrm>
          <a:prstGeom prst="rect">
            <a:avLst/>
          </a:prstGeom>
          <a:solidFill>
            <a:srgbClr val="62A7D8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6345936" y="3291840"/>
            <a:ext cx="164592" cy="164592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66" name="Text 62"/>
          <p:cNvSpPr txBox="1"/>
          <p:nvPr/>
        </p:nvSpPr>
        <p:spPr>
          <a:xfrm>
            <a:off x="5431536" y="361188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Top-K experts</a:t>
            </a:r>
            <a:endParaRPr lang="en-US" sz="1100" dirty="0"/>
          </a:p>
        </p:txBody>
      </p:sp>
      <p:sp>
        <p:nvSpPr>
          <p:cNvPr id="67" name="Text 63"/>
          <p:cNvSpPr txBox="1"/>
          <p:nvPr/>
        </p:nvSpPr>
        <p:spPr>
          <a:xfrm>
            <a:off x="5276088" y="3703320"/>
            <a:ext cx="1444752" cy="4206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末段去噪 × 同位 token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× 选定 MoE 层</a:t>
            </a:r>
            <a:endParaRPr lang="en-US" sz="1150" dirty="0"/>
          </a:p>
        </p:txBody>
      </p:sp>
      <p:sp>
        <p:nvSpPr>
          <p:cNvPr id="68" name="Shape 64"/>
          <p:cNvSpPr/>
          <p:nvPr/>
        </p:nvSpPr>
        <p:spPr>
          <a:xfrm>
            <a:off x="6995160" y="3063240"/>
            <a:ext cx="274320" cy="0"/>
          </a:xfrm>
          <a:prstGeom prst="line">
            <a:avLst/>
          </a:prstGeom>
          <a:noFill/>
          <a:ln w="26670">
            <a:solidFill>
              <a:srgbClr val="C7D6E6"/>
            </a:solidFill>
            <a:prstDash val="solid"/>
            <a:tailEnd type="triangle"/>
          </a:ln>
        </p:spPr>
      </p:sp>
      <p:sp>
        <p:nvSpPr>
          <p:cNvPr id="69" name="Shape 65"/>
          <p:cNvSpPr/>
          <p:nvPr/>
        </p:nvSpPr>
        <p:spPr>
          <a:xfrm>
            <a:off x="7333488" y="1828800"/>
            <a:ext cx="1901952" cy="242316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160">
            <a:solidFill>
              <a:srgbClr val="E8A33D"/>
            </a:solidFill>
            <a:prstDash val="solid"/>
          </a:ln>
          <a:effectLst>
            <a:outerShdw blurRad="15240" dist="50800" dir="2700000" algn="bl" rotWithShape="0">
              <a:srgbClr val="7F8C99">
                <a:alpha val="8000"/>
              </a:srgbClr>
            </a:outerShdw>
          </a:effectLst>
        </p:spPr>
      </p:sp>
      <p:sp>
        <p:nvSpPr>
          <p:cNvPr id="70" name="Shape 66"/>
          <p:cNvSpPr/>
          <p:nvPr/>
        </p:nvSpPr>
        <p:spPr>
          <a:xfrm>
            <a:off x="7498080" y="2011680"/>
            <a:ext cx="475488" cy="47548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1" name="Text 67"/>
          <p:cNvSpPr txBox="1"/>
          <p:nvPr/>
        </p:nvSpPr>
        <p:spPr>
          <a:xfrm>
            <a:off x="7498080" y="20116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150" dirty="0"/>
          </a:p>
        </p:txBody>
      </p:sp>
      <p:sp>
        <p:nvSpPr>
          <p:cNvPr id="72" name="Text 68"/>
          <p:cNvSpPr txBox="1"/>
          <p:nvPr/>
        </p:nvSpPr>
        <p:spPr>
          <a:xfrm>
            <a:off x="8046720" y="1975104"/>
            <a:ext cx="1042416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E8A3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窗口判别</a:t>
            </a:r>
            <a:endParaRPr lang="en-US" sz="1700" dirty="0"/>
          </a:p>
        </p:txBody>
      </p:sp>
      <p:sp>
        <p:nvSpPr>
          <p:cNvPr id="73" name="Shape 69"/>
          <p:cNvSpPr/>
          <p:nvPr/>
        </p:nvSpPr>
        <p:spPr>
          <a:xfrm>
            <a:off x="7699248" y="3374136"/>
            <a:ext cx="1216152" cy="0"/>
          </a:xfrm>
          <a:prstGeom prst="line">
            <a:avLst/>
          </a:prstGeom>
          <a:noFill/>
          <a:ln w="8890">
            <a:solidFill>
              <a:srgbClr val="C7D6E6"/>
            </a:solidFill>
            <a:prstDash val="dash"/>
          </a:ln>
        </p:spPr>
      </p:sp>
      <p:sp>
        <p:nvSpPr>
          <p:cNvPr id="74" name="Shape 70"/>
          <p:cNvSpPr/>
          <p:nvPr/>
        </p:nvSpPr>
        <p:spPr>
          <a:xfrm>
            <a:off x="7717536" y="2807208"/>
            <a:ext cx="192024" cy="73152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7909560" y="2798064"/>
            <a:ext cx="192024" cy="82296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8101584" y="2798064"/>
            <a:ext cx="192024" cy="173736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8293608" y="2971800"/>
            <a:ext cx="192024" cy="73152"/>
          </a:xfrm>
          <a:prstGeom prst="line">
            <a:avLst/>
          </a:prstGeom>
          <a:noFill/>
          <a:ln w="25400">
            <a:solidFill>
              <a:srgbClr val="E8A33D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8485632" y="3044952"/>
            <a:ext cx="192024" cy="27432"/>
          </a:xfrm>
          <a:prstGeom prst="line">
            <a:avLst/>
          </a:prstGeom>
          <a:noFill/>
          <a:ln w="25400">
            <a:solidFill>
              <a:srgbClr val="C84A45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8677656" y="3063240"/>
            <a:ext cx="192024" cy="9144"/>
          </a:xfrm>
          <a:prstGeom prst="line">
            <a:avLst/>
          </a:prstGeom>
          <a:noFill/>
          <a:ln w="25400">
            <a:solidFill>
              <a:srgbClr val="C84A45"/>
            </a:solidFill>
            <a:prstDash val="solid"/>
          </a:ln>
        </p:spPr>
      </p:sp>
      <p:sp>
        <p:nvSpPr>
          <p:cNvPr id="80" name="Text 76"/>
          <p:cNvSpPr txBox="1"/>
          <p:nvPr/>
        </p:nvSpPr>
        <p:spPr>
          <a:xfrm>
            <a:off x="7946136" y="3529584"/>
            <a:ext cx="80467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84A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Sₜ &lt; τ</a:t>
            </a:r>
            <a:endParaRPr lang="en-US" sz="1250" dirty="0"/>
          </a:p>
        </p:txBody>
      </p:sp>
      <p:sp>
        <p:nvSpPr>
          <p:cNvPr id="81" name="Text 77"/>
          <p:cNvSpPr txBox="1"/>
          <p:nvPr/>
        </p:nvSpPr>
        <p:spPr>
          <a:xfrm>
            <a:off x="7562088" y="3703320"/>
            <a:ext cx="1444752" cy="4206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Jaccard change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+ 持续性约束</a:t>
            </a:r>
            <a:endParaRPr lang="en-US" sz="1150" dirty="0"/>
          </a:p>
        </p:txBody>
      </p:sp>
      <p:sp>
        <p:nvSpPr>
          <p:cNvPr id="82" name="Shape 78"/>
          <p:cNvSpPr/>
          <p:nvPr/>
        </p:nvSpPr>
        <p:spPr>
          <a:xfrm>
            <a:off x="9281160" y="3063240"/>
            <a:ext cx="274320" cy="0"/>
          </a:xfrm>
          <a:prstGeom prst="line">
            <a:avLst/>
          </a:prstGeom>
          <a:noFill/>
          <a:ln w="26670">
            <a:solidFill>
              <a:srgbClr val="C7D6E6"/>
            </a:solidFill>
            <a:prstDash val="solid"/>
            <a:tailEnd type="triangle"/>
          </a:ln>
        </p:spPr>
      </p:sp>
      <p:sp>
        <p:nvSpPr>
          <p:cNvPr id="83" name="Shape 79"/>
          <p:cNvSpPr/>
          <p:nvPr/>
        </p:nvSpPr>
        <p:spPr>
          <a:xfrm>
            <a:off x="9619488" y="1828800"/>
            <a:ext cx="1993392" cy="242316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10160">
            <a:solidFill>
              <a:srgbClr val="C84A45"/>
            </a:solidFill>
            <a:prstDash val="solid"/>
          </a:ln>
          <a:effectLst>
            <a:outerShdw blurRad="15240" dist="50800" dir="2700000" algn="bl" rotWithShape="0">
              <a:srgbClr val="7F8C99">
                <a:alpha val="8000"/>
              </a:srgbClr>
            </a:outerShdw>
          </a:effectLst>
        </p:spPr>
      </p:sp>
      <p:sp>
        <p:nvSpPr>
          <p:cNvPr id="84" name="Shape 80"/>
          <p:cNvSpPr/>
          <p:nvPr/>
        </p:nvSpPr>
        <p:spPr>
          <a:xfrm>
            <a:off x="9784080" y="2011680"/>
            <a:ext cx="475488" cy="475488"/>
          </a:xfrm>
          <a:prstGeom prst="ellipse">
            <a:avLst/>
          </a:prstGeom>
          <a:solidFill>
            <a:srgbClr val="C84A45"/>
          </a:solidFill>
          <a:ln w="12700">
            <a:solidFill>
              <a:srgbClr val="C84A45"/>
            </a:solidFill>
            <a:prstDash val="solid"/>
          </a:ln>
        </p:spPr>
      </p:sp>
      <p:sp>
        <p:nvSpPr>
          <p:cNvPr id="85" name="Text 81"/>
          <p:cNvSpPr txBox="1"/>
          <p:nvPr/>
        </p:nvSpPr>
        <p:spPr>
          <a:xfrm>
            <a:off x="9784080" y="20116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150" dirty="0"/>
          </a:p>
        </p:txBody>
      </p:sp>
      <p:sp>
        <p:nvSpPr>
          <p:cNvPr id="86" name="Text 82"/>
          <p:cNvSpPr txBox="1"/>
          <p:nvPr/>
        </p:nvSpPr>
        <p:spPr>
          <a:xfrm>
            <a:off x="10332720" y="1975104"/>
            <a:ext cx="1133856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C84A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报警与救回</a:t>
            </a:r>
            <a:endParaRPr lang="en-US" sz="1700" dirty="0"/>
          </a:p>
        </p:txBody>
      </p:sp>
      <p:sp>
        <p:nvSpPr>
          <p:cNvPr id="87" name="Text 83"/>
          <p:cNvSpPr txBox="1"/>
          <p:nvPr/>
        </p:nvSpPr>
        <p:spPr>
          <a:xfrm>
            <a:off x="9985248" y="259689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C84A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⚠</a:t>
            </a:r>
            <a:endParaRPr lang="en-US" sz="2500" dirty="0"/>
          </a:p>
        </p:txBody>
      </p:sp>
      <p:sp>
        <p:nvSpPr>
          <p:cNvPr id="88" name="Shape 84"/>
          <p:cNvSpPr/>
          <p:nvPr/>
        </p:nvSpPr>
        <p:spPr>
          <a:xfrm>
            <a:off x="10597896" y="2889504"/>
            <a:ext cx="557784" cy="0"/>
          </a:xfrm>
          <a:prstGeom prst="line">
            <a:avLst/>
          </a:prstGeom>
          <a:noFill/>
          <a:ln w="25400">
            <a:solidFill>
              <a:srgbClr val="C84A45"/>
            </a:solidFill>
            <a:prstDash val="solid"/>
            <a:tailEnd type="triangle"/>
          </a:ln>
        </p:spPr>
      </p:sp>
      <p:sp>
        <p:nvSpPr>
          <p:cNvPr id="89" name="Text 85"/>
          <p:cNvSpPr txBox="1"/>
          <p:nvPr/>
        </p:nvSpPr>
        <p:spPr>
          <a:xfrm>
            <a:off x="11119104" y="2670048"/>
            <a:ext cx="347472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3F7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N×</a:t>
            </a:r>
            <a:endParaRPr lang="en-US" sz="1700" dirty="0"/>
          </a:p>
        </p:txBody>
      </p:sp>
      <p:sp>
        <p:nvSpPr>
          <p:cNvPr id="90" name="Text 86"/>
          <p:cNvSpPr txBox="1"/>
          <p:nvPr/>
        </p:nvSpPr>
        <p:spPr>
          <a:xfrm>
            <a:off x="10204704" y="3337560"/>
            <a:ext cx="1060704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rollout</a:t>
            </a:r>
            <a:endParaRPr lang="en-US" sz="1200" dirty="0"/>
          </a:p>
        </p:txBody>
      </p:sp>
      <p:sp>
        <p:nvSpPr>
          <p:cNvPr id="91" name="Text 87"/>
          <p:cNvSpPr txBox="1"/>
          <p:nvPr/>
        </p:nvSpPr>
        <p:spPr>
          <a:xfrm>
            <a:off x="9848088" y="3703320"/>
            <a:ext cx="1536192" cy="42062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保存状态 → rollout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F6B7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 短步执行</a:t>
            </a:r>
            <a:endParaRPr lang="en-US" sz="1150" dirty="0"/>
          </a:p>
        </p:txBody>
      </p:sp>
      <p:sp>
        <p:nvSpPr>
          <p:cNvPr id="92" name="Shape 88"/>
          <p:cNvSpPr/>
          <p:nvPr/>
        </p:nvSpPr>
        <p:spPr>
          <a:xfrm>
            <a:off x="658368" y="4800600"/>
            <a:ext cx="5248656" cy="960120"/>
          </a:xfrm>
          <a:prstGeom prst="roundRect">
            <a:avLst>
              <a:gd name="adj" fmla="val 7619"/>
            </a:avLst>
          </a:prstGeom>
          <a:solidFill>
            <a:srgbClr val="EAF2FA"/>
          </a:solidFill>
          <a:ln w="10160">
            <a:solidFill>
              <a:srgbClr val="EAF2FA"/>
            </a:solidFill>
            <a:prstDash val="solid"/>
          </a:ln>
        </p:spPr>
      </p:sp>
      <p:sp>
        <p:nvSpPr>
          <p:cNvPr id="93" name="Text 89"/>
          <p:cNvSpPr txBox="1"/>
          <p:nvPr/>
        </p:nvSpPr>
        <p:spPr>
          <a:xfrm>
            <a:off x="896112" y="500176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69AC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离线机制线</a:t>
            </a:r>
            <a:endParaRPr lang="en-US" sz="1300" dirty="0"/>
          </a:p>
        </p:txBody>
      </p:sp>
      <p:sp>
        <p:nvSpPr>
          <p:cNvPr id="94" name="Text 90"/>
          <p:cNvSpPr txBox="1"/>
          <p:nvPr/>
        </p:nvSpPr>
        <p:spPr>
          <a:xfrm>
            <a:off x="1993392" y="4910328"/>
            <a:ext cx="3584448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对齐成功 / Trap 轨迹，标注 onset，筛选有效层与 token，校准阈值。</a:t>
            </a:r>
            <a:endParaRPr lang="en-US" sz="1330" dirty="0"/>
          </a:p>
        </p:txBody>
      </p:sp>
      <p:sp>
        <p:nvSpPr>
          <p:cNvPr id="95" name="Shape 91"/>
          <p:cNvSpPr/>
          <p:nvPr/>
        </p:nvSpPr>
        <p:spPr>
          <a:xfrm>
            <a:off x="6199632" y="4800600"/>
            <a:ext cx="5065776" cy="960120"/>
          </a:xfrm>
          <a:prstGeom prst="roundRect">
            <a:avLst>
              <a:gd name="adj" fmla="val 7619"/>
            </a:avLst>
          </a:prstGeom>
          <a:solidFill>
            <a:srgbClr val="FCE9E8"/>
          </a:solidFill>
          <a:ln w="10160">
            <a:solidFill>
              <a:srgbClr val="FCE9E8"/>
            </a:solidFill>
            <a:prstDash val="solid"/>
          </a:ln>
        </p:spPr>
      </p:sp>
      <p:sp>
        <p:nvSpPr>
          <p:cNvPr id="96" name="Text 92"/>
          <p:cNvSpPr txBox="1"/>
          <p:nvPr/>
        </p:nvSpPr>
        <p:spPr>
          <a:xfrm>
            <a:off x="6437376" y="5001768"/>
            <a:ext cx="11887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84A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在线控制线</a:t>
            </a:r>
            <a:endParaRPr lang="en-US" sz="1300" dirty="0"/>
          </a:p>
        </p:txBody>
      </p:sp>
      <p:sp>
        <p:nvSpPr>
          <p:cNvPr id="97" name="Text 93"/>
          <p:cNvSpPr txBox="1"/>
          <p:nvPr/>
        </p:nvSpPr>
        <p:spPr>
          <a:xfrm>
            <a:off x="7543800" y="4910328"/>
            <a:ext cx="3364992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30" dirty="0">
                <a:solidFill>
                  <a:srgbClr val="17212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每个 chunk 只更新一个窗口分数；报警后执行受约束的短时救回。</a:t>
            </a:r>
            <a:endParaRPr lang="en-US" sz="13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oboWis_unpack/ppt/media/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735" y="128016"/>
            <a:ext cx="1010489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55648" y="155448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ROBOT-WHISPER</a:t>
            </a:r>
            <a:endParaRPr lang="en-US" sz="1050" b="1" kern="0" spc="10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406640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06640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动机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065008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65008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723376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23376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方法</a:t>
            </a:r>
            <a:endParaRPr lang="en-US" sz="95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381744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381744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证据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0040112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40112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验证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0698480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698480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计划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1384280" y="128016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3F73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07</a:t>
            </a:r>
            <a:endParaRPr lang="en-US" sz="1200" b="1" dirty="0">
              <a:solidFill>
                <a:srgbClr val="173F73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11480" y="557784"/>
            <a:ext cx="11365992" cy="0"/>
          </a:xfrm>
          <a:prstGeom prst="line">
            <a:avLst/>
          </a:prstGeom>
          <a:noFill/>
          <a:ln w="11430">
            <a:solidFill>
              <a:srgbClr val="C7D6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5488" y="749808"/>
            <a:ext cx="50292" cy="402336"/>
          </a:xfrm>
          <a:prstGeom prst="rect">
            <a:avLst/>
          </a:prstGeom>
          <a:solidFill>
            <a:srgbClr val="2A69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694944"/>
            <a:ext cx="1060704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实验对象与数据结构</a:t>
            </a:r>
            <a:endParaRPr lang="en-US" sz="2500" b="1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11480" y="6583680"/>
            <a:ext cx="11365992" cy="0"/>
          </a:xfrm>
          <a:prstGeom prst="line">
            <a:avLst/>
          </a:prstGeom>
          <a:noFill/>
          <a:ln w="6985">
            <a:solidFill>
              <a:srgbClr val="C7D6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5488" y="6620256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VLA internal routing · trap alarm · online recovery</a:t>
            </a:r>
            <a:endParaRPr lang="en-US" sz="8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8869680" y="6620256"/>
            <a:ext cx="288036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复旦大学 · Robot-Whisper</a:t>
            </a:r>
            <a:endParaRPr lang="en-US" sz="8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66928" y="1344168"/>
            <a:ext cx="3154680" cy="1078992"/>
          </a:xfrm>
          <a:prstGeom prst="roundRect">
            <a:avLst>
              <a:gd name="adj" fmla="val 6780"/>
            </a:avLst>
          </a:prstGeom>
          <a:solidFill>
            <a:srgbClr val="EAF2FA"/>
          </a:solidFill>
          <a:ln w="10160">
            <a:solidFill>
              <a:srgbClr val="EAF2F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86384" y="1554480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69AC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模型</a:t>
            </a:r>
            <a:endParaRPr lang="en-US" sz="1250" b="1" dirty="0">
              <a:solidFill>
                <a:srgbClr val="2A69AC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5" name="Text 22"/>
          <p:cNvSpPr txBox="1"/>
          <p:nvPr/>
        </p:nvSpPr>
        <p:spPr>
          <a:xfrm>
            <a:off x="1353312" y="1453896"/>
            <a:ext cx="1975104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D2F5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HiMoE-VLA</a:t>
            </a:r>
            <a:endParaRPr lang="en-US" sz="1900" b="1" dirty="0">
              <a:solidFill>
                <a:srgbClr val="0D2F5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1353312" y="1865376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F6B78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层次化 MoE 的 VLA 开源模型</a:t>
            </a:r>
            <a:endParaRPr lang="en-US" sz="1150" dirty="0">
              <a:solidFill>
                <a:srgbClr val="5F6B78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566928" y="2596896"/>
            <a:ext cx="3154680" cy="1078992"/>
          </a:xfrm>
          <a:prstGeom prst="roundRect">
            <a:avLst>
              <a:gd name="adj" fmla="val 6780"/>
            </a:avLst>
          </a:prstGeom>
          <a:solidFill>
            <a:srgbClr val="EEF2F6"/>
          </a:solidFill>
          <a:ln w="10160">
            <a:solidFill>
              <a:srgbClr val="EEF2F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86384" y="2807208"/>
            <a:ext cx="60350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5F6B78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任务</a:t>
            </a:r>
            <a:endParaRPr lang="en-US" sz="1250" b="1" dirty="0">
              <a:solidFill>
                <a:srgbClr val="5F6B78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1353312" y="2706624"/>
            <a:ext cx="1975104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D2F5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LIBERO-10</a:t>
            </a:r>
            <a:endParaRPr lang="en-US" sz="1900" b="1" dirty="0">
              <a:solidFill>
                <a:srgbClr val="0D2F5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30" name="Text 27"/>
          <p:cNvSpPr txBox="1"/>
          <p:nvPr/>
        </p:nvSpPr>
        <p:spPr>
          <a:xfrm>
            <a:off x="1353312" y="3118104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F6B78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长时程语言条件机械臂任务</a:t>
            </a:r>
            <a:endParaRPr lang="en-US" sz="1150" dirty="0">
              <a:solidFill>
                <a:srgbClr val="5F6B78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566928" y="3849624"/>
            <a:ext cx="3154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0160">
            <a:solidFill>
              <a:srgbClr val="C7D6E6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86384" y="40690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A69AC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基本推理单位</a:t>
            </a:r>
            <a:endParaRPr lang="en-US" sz="1250" b="1" dirty="0">
              <a:solidFill>
                <a:srgbClr val="2A69AC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3" name="Text 30"/>
          <p:cNvSpPr txBox="1"/>
          <p:nvPr/>
        </p:nvSpPr>
        <p:spPr>
          <a:xfrm>
            <a:off x="786384" y="4416552"/>
            <a:ext cx="2596896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20" b="1" dirty="0">
                <a:solidFill>
                  <a:srgbClr val="0D2F5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1 次推理 → 1 个 action chunk</a:t>
            </a:r>
            <a:endParaRPr lang="en-US" sz="1720" b="1" dirty="0">
              <a:solidFill>
                <a:srgbClr val="0D2F5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34" name="Text 31"/>
          <p:cNvSpPr txBox="1"/>
          <p:nvPr/>
        </p:nvSpPr>
        <p:spPr>
          <a:xfrm>
            <a:off x="786384" y="4828032"/>
            <a:ext cx="2542032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dirty="0">
                <a:solidFill>
                  <a:srgbClr val="5F6B78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执行后重新观测，再进行下一次独立推理。</a:t>
            </a:r>
            <a:endParaRPr lang="en-US" sz="1230" dirty="0">
              <a:solidFill>
                <a:srgbClr val="5F6B78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041648" y="1344168"/>
            <a:ext cx="7543800" cy="3877056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0160">
            <a:solidFill>
              <a:srgbClr val="C7D6E6"/>
            </a:solidFill>
            <a:prstDash val="solid"/>
          </a:ln>
          <a:effectLst>
            <a:outerShdw blurRad="15240" dist="50800" dir="2700000" algn="bl" rotWithShape="0">
              <a:srgbClr val="7F8C99">
                <a:alpha val="7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4315968" y="1554480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69AC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轨迹时间轴</a:t>
            </a:r>
            <a:endParaRPr lang="en-US" sz="1300" b="1" dirty="0">
              <a:solidFill>
                <a:srgbClr val="2A69AC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4617720" y="2176272"/>
            <a:ext cx="6309360" cy="0"/>
          </a:xfrm>
          <a:prstGeom prst="line">
            <a:avLst/>
          </a:prstGeom>
          <a:noFill/>
          <a:ln w="22860">
            <a:solidFill>
              <a:srgbClr val="C7D6E6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4668012" y="2107692"/>
            <a:ext cx="137160" cy="137160"/>
          </a:xfrm>
          <a:prstGeom prst="ellipse">
            <a:avLst/>
          </a:prstGeom>
          <a:solidFill>
            <a:srgbClr val="2A69AC"/>
          </a:solidFill>
          <a:ln w="6350">
            <a:solidFill>
              <a:srgbClr val="2A69A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553712" y="1856232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F6B78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t1</a:t>
            </a:r>
            <a:endParaRPr lang="en-US" sz="1100" b="1" dirty="0">
              <a:solidFill>
                <a:srgbClr val="5F6B78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4343400" y="2414016"/>
            <a:ext cx="786384" cy="530352"/>
          </a:xfrm>
          <a:prstGeom prst="roundRect">
            <a:avLst>
              <a:gd name="adj" fmla="val 8621"/>
            </a:avLst>
          </a:prstGeom>
          <a:solidFill>
            <a:srgbClr val="EAF2FA"/>
          </a:solidFill>
          <a:ln w="10160">
            <a:solidFill>
              <a:srgbClr val="2A69AC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343400" y="2414016"/>
            <a:ext cx="786384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A69AC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chunk</a:t>
            </a:r>
            <a:endParaRPr lang="en-US" sz="980" b="1" dirty="0">
              <a:solidFill>
                <a:srgbClr val="2A69AC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42" name="Text 39"/>
          <p:cNvSpPr txBox="1"/>
          <p:nvPr/>
        </p:nvSpPr>
        <p:spPr>
          <a:xfrm>
            <a:off x="4343400" y="2633472"/>
            <a:ext cx="786384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a₁…aH</a:t>
            </a:r>
            <a:endParaRPr lang="en-US" sz="96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5920740" y="2107692"/>
            <a:ext cx="137160" cy="137160"/>
          </a:xfrm>
          <a:prstGeom prst="ellipse">
            <a:avLst/>
          </a:prstGeom>
          <a:solidFill>
            <a:srgbClr val="2A69AC"/>
          </a:solidFill>
          <a:ln w="6350">
            <a:solidFill>
              <a:srgbClr val="2A69AC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806440" y="1856232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F6B78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t2</a:t>
            </a:r>
            <a:endParaRPr lang="en-US" sz="1100" b="1" dirty="0">
              <a:solidFill>
                <a:srgbClr val="5F6B78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5596128" y="2414016"/>
            <a:ext cx="786384" cy="530352"/>
          </a:xfrm>
          <a:prstGeom prst="roundRect">
            <a:avLst>
              <a:gd name="adj" fmla="val 8621"/>
            </a:avLst>
          </a:prstGeom>
          <a:solidFill>
            <a:srgbClr val="EAF2FA"/>
          </a:solidFill>
          <a:ln w="10160">
            <a:solidFill>
              <a:srgbClr val="2A69AC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596128" y="2414016"/>
            <a:ext cx="786384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A69AC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chunk</a:t>
            </a:r>
            <a:endParaRPr lang="en-US" sz="980" b="1" dirty="0">
              <a:solidFill>
                <a:srgbClr val="2A69AC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47" name="Text 44"/>
          <p:cNvSpPr txBox="1"/>
          <p:nvPr/>
        </p:nvSpPr>
        <p:spPr>
          <a:xfrm>
            <a:off x="5596128" y="2633472"/>
            <a:ext cx="786384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a₁…aH</a:t>
            </a:r>
            <a:endParaRPr lang="en-US" sz="96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7173468" y="2107692"/>
            <a:ext cx="137160" cy="137160"/>
          </a:xfrm>
          <a:prstGeom prst="ellipse">
            <a:avLst/>
          </a:prstGeom>
          <a:solidFill>
            <a:srgbClr val="2A69AC"/>
          </a:solidFill>
          <a:ln w="6350">
            <a:solidFill>
              <a:srgbClr val="2A69AC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7059168" y="1856232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F6B78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t3</a:t>
            </a:r>
            <a:endParaRPr lang="en-US" sz="1100" b="1" dirty="0">
              <a:solidFill>
                <a:srgbClr val="5F6B78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6848856" y="2414016"/>
            <a:ext cx="786384" cy="530352"/>
          </a:xfrm>
          <a:prstGeom prst="roundRect">
            <a:avLst>
              <a:gd name="adj" fmla="val 8621"/>
            </a:avLst>
          </a:prstGeom>
          <a:solidFill>
            <a:srgbClr val="EAF2FA"/>
          </a:solidFill>
          <a:ln w="10160">
            <a:solidFill>
              <a:srgbClr val="2A69AC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848856" y="2414016"/>
            <a:ext cx="786384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A69AC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chunk</a:t>
            </a:r>
            <a:endParaRPr lang="en-US" sz="980" b="1" dirty="0">
              <a:solidFill>
                <a:srgbClr val="2A69AC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52" name="Text 49"/>
          <p:cNvSpPr txBox="1"/>
          <p:nvPr/>
        </p:nvSpPr>
        <p:spPr>
          <a:xfrm>
            <a:off x="6848856" y="2633472"/>
            <a:ext cx="786384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a₁…aH</a:t>
            </a:r>
            <a:endParaRPr lang="en-US" sz="96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8426196" y="2107692"/>
            <a:ext cx="137160" cy="137160"/>
          </a:xfrm>
          <a:prstGeom prst="ellipse">
            <a:avLst/>
          </a:prstGeom>
          <a:solidFill>
            <a:srgbClr val="2A69AC"/>
          </a:solidFill>
          <a:ln w="6350">
            <a:solidFill>
              <a:srgbClr val="2A69AC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8311896" y="1856232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F6B78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t4</a:t>
            </a:r>
            <a:endParaRPr lang="en-US" sz="1100" b="1" dirty="0">
              <a:solidFill>
                <a:srgbClr val="5F6B78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8101584" y="2414016"/>
            <a:ext cx="786384" cy="530352"/>
          </a:xfrm>
          <a:prstGeom prst="roundRect">
            <a:avLst>
              <a:gd name="adj" fmla="val 8621"/>
            </a:avLst>
          </a:prstGeom>
          <a:solidFill>
            <a:srgbClr val="EAF2FA"/>
          </a:solidFill>
          <a:ln w="10160">
            <a:solidFill>
              <a:srgbClr val="2A69AC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8101584" y="2414016"/>
            <a:ext cx="786384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A69AC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chunk</a:t>
            </a:r>
            <a:endParaRPr lang="en-US" sz="980" b="1" dirty="0">
              <a:solidFill>
                <a:srgbClr val="2A69AC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57" name="Text 54"/>
          <p:cNvSpPr txBox="1"/>
          <p:nvPr/>
        </p:nvSpPr>
        <p:spPr>
          <a:xfrm>
            <a:off x="8101584" y="2633472"/>
            <a:ext cx="786384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a₁…aH</a:t>
            </a:r>
            <a:endParaRPr lang="en-US" sz="96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9678924" y="2107692"/>
            <a:ext cx="137160" cy="137160"/>
          </a:xfrm>
          <a:prstGeom prst="ellipse">
            <a:avLst/>
          </a:prstGeom>
          <a:solidFill>
            <a:srgbClr val="C84A45"/>
          </a:solidFill>
          <a:ln w="6350">
            <a:solidFill>
              <a:srgbClr val="C84A45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9564624" y="1856232"/>
            <a:ext cx="36576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F6B78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t5</a:t>
            </a:r>
            <a:endParaRPr lang="en-US" sz="1100" b="1" dirty="0">
              <a:solidFill>
                <a:srgbClr val="5F6B78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9354312" y="2414016"/>
            <a:ext cx="786384" cy="530352"/>
          </a:xfrm>
          <a:prstGeom prst="roundRect">
            <a:avLst>
              <a:gd name="adj" fmla="val 8621"/>
            </a:avLst>
          </a:prstGeom>
          <a:solidFill>
            <a:srgbClr val="FCE9E8"/>
          </a:solidFill>
          <a:ln w="10160">
            <a:solidFill>
              <a:srgbClr val="C84A45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9354312" y="2414016"/>
            <a:ext cx="786384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C84A45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chunk</a:t>
            </a:r>
            <a:endParaRPr lang="en-US" sz="980" b="1" dirty="0">
              <a:solidFill>
                <a:srgbClr val="C84A45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62" name="Text 59"/>
          <p:cNvSpPr txBox="1"/>
          <p:nvPr/>
        </p:nvSpPr>
        <p:spPr>
          <a:xfrm>
            <a:off x="9354312" y="2633472"/>
            <a:ext cx="786384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a₁…aH</a:t>
            </a:r>
            <a:endParaRPr lang="en-US" sz="96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63" name="Text 60"/>
          <p:cNvSpPr txBox="1"/>
          <p:nvPr/>
        </p:nvSpPr>
        <p:spPr>
          <a:xfrm>
            <a:off x="4315968" y="3246120"/>
            <a:ext cx="187452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69AC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单个 chunk 内部记录</a:t>
            </a:r>
            <a:endParaRPr lang="en-US" sz="1300" b="1" dirty="0">
              <a:solidFill>
                <a:srgbClr val="2A69AC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5833872" y="3410712"/>
            <a:ext cx="3108960" cy="1115568"/>
          </a:xfrm>
          <a:prstGeom prst="rect">
            <a:avLst/>
          </a:prstGeom>
          <a:solidFill>
            <a:srgbClr val="FFFFFF">
              <a:alpha val="82000"/>
            </a:srgbClr>
          </a:solidFill>
          <a:ln w="8890">
            <a:solidFill>
              <a:srgbClr val="2A69AC">
                <a:alpha val="6500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5998464" y="3566160"/>
            <a:ext cx="246888" cy="155448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6382512" y="3566160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766560" y="3566160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7150608" y="3566160"/>
            <a:ext cx="246888" cy="155448"/>
          </a:xfrm>
          <a:prstGeom prst="rect">
            <a:avLst/>
          </a:prstGeom>
          <a:solidFill>
            <a:srgbClr val="62A7D8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7534656" y="3566160"/>
            <a:ext cx="246888" cy="155448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7918704" y="3566160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8302752" y="3566160"/>
            <a:ext cx="246888" cy="155448"/>
          </a:xfrm>
          <a:prstGeom prst="rect">
            <a:avLst/>
          </a:prstGeom>
          <a:solidFill>
            <a:srgbClr val="62A7D8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5998464" y="3831336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6382512" y="3831336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6766560" y="3831336"/>
            <a:ext cx="246888" cy="155448"/>
          </a:xfrm>
          <a:prstGeom prst="rect">
            <a:avLst/>
          </a:prstGeom>
          <a:solidFill>
            <a:srgbClr val="62A7D8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7150608" y="3831336"/>
            <a:ext cx="246888" cy="155448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7534656" y="3831336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7918704" y="3831336"/>
            <a:ext cx="246888" cy="155448"/>
          </a:xfrm>
          <a:prstGeom prst="rect">
            <a:avLst/>
          </a:prstGeom>
          <a:solidFill>
            <a:srgbClr val="62A7D8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8302752" y="3831336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5998464" y="4096512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6382512" y="4096512"/>
            <a:ext cx="246888" cy="155448"/>
          </a:xfrm>
          <a:prstGeom prst="rect">
            <a:avLst/>
          </a:prstGeom>
          <a:solidFill>
            <a:srgbClr val="62A7D8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6766560" y="4096512"/>
            <a:ext cx="246888" cy="155448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150608" y="4096512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7534656" y="4096512"/>
            <a:ext cx="246888" cy="155448"/>
          </a:xfrm>
          <a:prstGeom prst="rect">
            <a:avLst/>
          </a:prstGeom>
          <a:solidFill>
            <a:srgbClr val="62A7D8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7918704" y="4096512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8302752" y="4096512"/>
            <a:ext cx="246888" cy="155448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6062472" y="3300984"/>
            <a:ext cx="3108960" cy="1115568"/>
          </a:xfrm>
          <a:prstGeom prst="rect">
            <a:avLst/>
          </a:prstGeom>
          <a:solidFill>
            <a:srgbClr val="FFFFFF">
              <a:alpha val="82000"/>
            </a:srgbClr>
          </a:solidFill>
          <a:ln w="8890">
            <a:solidFill>
              <a:srgbClr val="2A69AC">
                <a:alpha val="6500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6227064" y="3456432"/>
            <a:ext cx="246888" cy="155448"/>
          </a:xfrm>
          <a:prstGeom prst="rect">
            <a:avLst/>
          </a:prstGeom>
          <a:solidFill>
            <a:srgbClr val="62A7D8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6611112" y="3456432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6995160" y="3456432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7379208" y="3456432"/>
            <a:ext cx="246888" cy="155448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7763256" y="3456432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8147304" y="3456432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8531352" y="3456432"/>
            <a:ext cx="246888" cy="155448"/>
          </a:xfrm>
          <a:prstGeom prst="rect">
            <a:avLst/>
          </a:prstGeom>
          <a:solidFill>
            <a:srgbClr val="62A7D8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6227064" y="3721608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6611112" y="3721608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6995160" y="3721608"/>
            <a:ext cx="246888" cy="155448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7379208" y="3721608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7763256" y="3721608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8147304" y="3721608"/>
            <a:ext cx="246888" cy="155448"/>
          </a:xfrm>
          <a:prstGeom prst="rect">
            <a:avLst/>
          </a:prstGeom>
          <a:solidFill>
            <a:srgbClr val="62A7D8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8531352" y="3721608"/>
            <a:ext cx="246888" cy="155448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6227064" y="3986784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6611112" y="3986784"/>
            <a:ext cx="246888" cy="155448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6995160" y="3986784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7379208" y="3986784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7763256" y="3986784"/>
            <a:ext cx="246888" cy="155448"/>
          </a:xfrm>
          <a:prstGeom prst="rect">
            <a:avLst/>
          </a:prstGeom>
          <a:solidFill>
            <a:srgbClr val="62A7D8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8147304" y="3986784"/>
            <a:ext cx="246888" cy="155448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8531352" y="3986784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6291072" y="3191256"/>
            <a:ext cx="3108960" cy="1115568"/>
          </a:xfrm>
          <a:prstGeom prst="rect">
            <a:avLst/>
          </a:prstGeom>
          <a:solidFill>
            <a:srgbClr val="FFFFFF">
              <a:alpha val="82000"/>
            </a:srgbClr>
          </a:solidFill>
          <a:ln w="8890">
            <a:solidFill>
              <a:srgbClr val="2A69AC">
                <a:alpha val="65000"/>
              </a:srgbClr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6455664" y="3346704"/>
            <a:ext cx="246888" cy="155448"/>
          </a:xfrm>
          <a:prstGeom prst="rect">
            <a:avLst/>
          </a:prstGeom>
          <a:solidFill>
            <a:srgbClr val="62A7D8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6839712" y="3346704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7223760" y="3346704"/>
            <a:ext cx="246888" cy="155448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12" name="Shape 109"/>
          <p:cNvSpPr/>
          <p:nvPr/>
        </p:nvSpPr>
        <p:spPr>
          <a:xfrm>
            <a:off x="7607808" y="3346704"/>
            <a:ext cx="246888" cy="155448"/>
          </a:xfrm>
          <a:prstGeom prst="rect">
            <a:avLst/>
          </a:prstGeom>
          <a:solidFill>
            <a:srgbClr val="62A7D8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7991856" y="3346704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8375904" y="3346704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8759952" y="3346704"/>
            <a:ext cx="246888" cy="155448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6455664" y="3611880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6839712" y="3611880"/>
            <a:ext cx="246888" cy="155448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7223760" y="3611880"/>
            <a:ext cx="246888" cy="155448"/>
          </a:xfrm>
          <a:prstGeom prst="rect">
            <a:avLst/>
          </a:prstGeom>
          <a:solidFill>
            <a:srgbClr val="62A7D8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7607808" y="3611880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7991856" y="3611880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8375904" y="3611880"/>
            <a:ext cx="246888" cy="155448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8759952" y="3611880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6455664" y="3877056"/>
            <a:ext cx="246888" cy="155448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6839712" y="3877056"/>
            <a:ext cx="246888" cy="155448"/>
          </a:xfrm>
          <a:prstGeom prst="rect">
            <a:avLst/>
          </a:prstGeom>
          <a:solidFill>
            <a:srgbClr val="62A7D8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7223760" y="3877056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7607808" y="3877056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7991856" y="3877056"/>
            <a:ext cx="246888" cy="155448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8375904" y="3877056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8759952" y="3877056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6519672" y="3081528"/>
            <a:ext cx="3108960" cy="1115568"/>
          </a:xfrm>
          <a:prstGeom prst="rect">
            <a:avLst/>
          </a:prstGeom>
          <a:solidFill>
            <a:srgbClr val="EAF2FA"/>
          </a:solidFill>
          <a:ln w="8890">
            <a:solidFill>
              <a:srgbClr val="2A69AC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6684264" y="3236976"/>
            <a:ext cx="246888" cy="155448"/>
          </a:xfrm>
          <a:prstGeom prst="rect">
            <a:avLst/>
          </a:prstGeom>
          <a:solidFill>
            <a:srgbClr val="62A7D8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7068312" y="3236976"/>
            <a:ext cx="246888" cy="155448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7452360" y="3236976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7836408" y="3236976"/>
            <a:ext cx="246888" cy="155448"/>
          </a:xfrm>
          <a:prstGeom prst="rect">
            <a:avLst/>
          </a:prstGeom>
          <a:solidFill>
            <a:srgbClr val="62A7D8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8220456" y="3236976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8604504" y="3236976"/>
            <a:ext cx="246888" cy="155448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37" name="Shape 134"/>
          <p:cNvSpPr/>
          <p:nvPr/>
        </p:nvSpPr>
        <p:spPr>
          <a:xfrm>
            <a:off x="8988552" y="3236976"/>
            <a:ext cx="246888" cy="155448"/>
          </a:xfrm>
          <a:prstGeom prst="rect">
            <a:avLst/>
          </a:prstGeom>
          <a:solidFill>
            <a:srgbClr val="62A7D8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6684264" y="3502152"/>
            <a:ext cx="246888" cy="155448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7068312" y="3502152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7452360" y="3502152"/>
            <a:ext cx="246888" cy="155448"/>
          </a:xfrm>
          <a:prstGeom prst="rect">
            <a:avLst/>
          </a:prstGeom>
          <a:solidFill>
            <a:srgbClr val="62A7D8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7836408" y="3502152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8220456" y="3502152"/>
            <a:ext cx="246888" cy="155448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8604504" y="3502152"/>
            <a:ext cx="246888" cy="155448"/>
          </a:xfrm>
          <a:prstGeom prst="rect">
            <a:avLst/>
          </a:prstGeom>
          <a:solidFill>
            <a:srgbClr val="62A7D8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8988552" y="3502152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6684264" y="3767328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7068312" y="3767328"/>
            <a:ext cx="246888" cy="155448"/>
          </a:xfrm>
          <a:prstGeom prst="rect">
            <a:avLst/>
          </a:prstGeom>
          <a:solidFill>
            <a:srgbClr val="62A7D8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7452360" y="3767328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7836408" y="3767328"/>
            <a:ext cx="246888" cy="155448"/>
          </a:xfrm>
          <a:prstGeom prst="rect">
            <a:avLst/>
          </a:prstGeom>
          <a:solidFill>
            <a:srgbClr val="173F73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8220456" y="3767328"/>
            <a:ext cx="246888" cy="155448"/>
          </a:xfrm>
          <a:prstGeom prst="rect">
            <a:avLst/>
          </a:prstGeom>
          <a:solidFill>
            <a:srgbClr val="62A7D8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8604504" y="3767328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8988552" y="3767328"/>
            <a:ext cx="246888" cy="155448"/>
          </a:xfrm>
          <a:prstGeom prst="rect">
            <a:avLst/>
          </a:prstGeom>
          <a:solidFill>
            <a:srgbClr val="EEF2F6"/>
          </a:solidFill>
          <a:ln w="2540">
            <a:solidFill>
              <a:srgbClr val="FFFFFF"/>
            </a:solidFill>
            <a:prstDash val="solid"/>
          </a:ln>
        </p:spPr>
      </p:sp>
      <p:sp>
        <p:nvSpPr>
          <p:cNvPr id="152" name="Text 149"/>
          <p:cNvSpPr txBox="1"/>
          <p:nvPr/>
        </p:nvSpPr>
        <p:spPr>
          <a:xfrm>
            <a:off x="9582912" y="333756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F6B78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末段去噪 q</a:t>
            </a:r>
            <a:endParaRPr lang="en-US" sz="1150" b="1" dirty="0">
              <a:solidFill>
                <a:srgbClr val="5F6B78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153" name="Shape 150"/>
          <p:cNvSpPr/>
          <p:nvPr/>
        </p:nvSpPr>
        <p:spPr>
          <a:xfrm>
            <a:off x="9079992" y="3621024"/>
            <a:ext cx="365760" cy="109728"/>
          </a:xfrm>
          <a:prstGeom prst="line">
            <a:avLst/>
          </a:prstGeom>
          <a:noFill/>
          <a:ln w="15240">
            <a:solidFill>
              <a:srgbClr val="5F6B78"/>
            </a:solidFill>
            <a:prstDash val="solid"/>
            <a:tailEnd type="triangle"/>
          </a:ln>
        </p:spPr>
      </p:sp>
      <p:sp>
        <p:nvSpPr>
          <p:cNvPr id="154" name="Text 151"/>
          <p:cNvSpPr txBox="1"/>
          <p:nvPr/>
        </p:nvSpPr>
        <p:spPr>
          <a:xfrm>
            <a:off x="9555480" y="3913632"/>
            <a:ext cx="135331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F6B78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同一 token 位置 U</a:t>
            </a:r>
            <a:endParaRPr lang="en-US" sz="1150" b="1" dirty="0">
              <a:solidFill>
                <a:srgbClr val="5F6B78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155" name="Shape 152"/>
          <p:cNvSpPr/>
          <p:nvPr/>
        </p:nvSpPr>
        <p:spPr>
          <a:xfrm>
            <a:off x="9070848" y="4114800"/>
            <a:ext cx="374904" cy="18288"/>
          </a:xfrm>
          <a:prstGeom prst="line">
            <a:avLst/>
          </a:prstGeom>
          <a:noFill/>
          <a:ln w="15240">
            <a:solidFill>
              <a:srgbClr val="5F6B78"/>
            </a:solidFill>
            <a:prstDash val="solid"/>
            <a:tailEnd type="triangle"/>
          </a:ln>
        </p:spPr>
      </p:sp>
      <p:sp>
        <p:nvSpPr>
          <p:cNvPr id="156" name="Text 153"/>
          <p:cNvSpPr txBox="1"/>
          <p:nvPr/>
        </p:nvSpPr>
        <p:spPr>
          <a:xfrm>
            <a:off x="9555480" y="4480560"/>
            <a:ext cx="12344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5F6B78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选定 MoE 层 L</a:t>
            </a:r>
            <a:endParaRPr lang="en-US" sz="1150" b="1" dirty="0">
              <a:solidFill>
                <a:srgbClr val="5F6B78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157" name="Shape 154"/>
          <p:cNvSpPr/>
          <p:nvPr/>
        </p:nvSpPr>
        <p:spPr>
          <a:xfrm>
            <a:off x="9025128" y="4443984"/>
            <a:ext cx="420624" cy="201168"/>
          </a:xfrm>
          <a:prstGeom prst="line">
            <a:avLst/>
          </a:prstGeom>
          <a:noFill/>
          <a:ln w="15240">
            <a:solidFill>
              <a:srgbClr val="5F6B78"/>
            </a:solidFill>
            <a:prstDash val="solid"/>
            <a:tailEnd type="triangle"/>
          </a:ln>
        </p:spPr>
      </p:sp>
      <p:sp>
        <p:nvSpPr>
          <p:cNvPr id="158" name="Shape 155"/>
          <p:cNvSpPr/>
          <p:nvPr/>
        </p:nvSpPr>
        <p:spPr>
          <a:xfrm>
            <a:off x="4315968" y="5394960"/>
            <a:ext cx="6784848" cy="438912"/>
          </a:xfrm>
          <a:prstGeom prst="roundRect">
            <a:avLst>
              <a:gd name="adj" fmla="val 18750"/>
            </a:avLst>
          </a:prstGeom>
          <a:solidFill>
            <a:srgbClr val="173F73"/>
          </a:solidFill>
          <a:ln w="8890">
            <a:solidFill>
              <a:srgbClr val="173F73"/>
            </a:solidFill>
            <a:prstDash val="solid"/>
          </a:ln>
        </p:spPr>
      </p:sp>
      <p:sp>
        <p:nvSpPr>
          <p:cNvPr id="159" name="Text 156"/>
          <p:cNvSpPr txBox="1"/>
          <p:nvPr/>
        </p:nvSpPr>
        <p:spPr>
          <a:xfrm>
            <a:off x="4315968" y="5394960"/>
            <a:ext cx="6784848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记录张量：[T, q, U, L, K]  ·  expert IDs + gate weights</a:t>
            </a:r>
            <a:endParaRPr lang="en-US" sz="123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160" name="Text 157"/>
          <p:cNvSpPr txBox="1"/>
          <p:nvPr/>
        </p:nvSpPr>
        <p:spPr>
          <a:xfrm>
            <a:off x="694944" y="5742432"/>
            <a:ext cx="1088136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5F6B78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数据分组：成功 / 超时-Trap / 其他失败；同任务、同保存状态的多 seed rollout 用于配对比较。</a:t>
            </a:r>
            <a:endParaRPr lang="en-US" sz="1300" dirty="0">
              <a:solidFill>
                <a:srgbClr val="5F6B78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oboWis_unpack/ppt/media/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735" y="128016"/>
            <a:ext cx="1010489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55648" y="155448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ROBOT-WHISPER</a:t>
            </a:r>
            <a:endParaRPr lang="en-US" sz="1050" b="1" kern="0" spc="10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406640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06640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动机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065008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65008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723376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23376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方法</a:t>
            </a:r>
            <a:endParaRPr lang="en-US" sz="95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381744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381744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证据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0040112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40112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验证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0698480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698480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计划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1384280" y="128016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3F73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08</a:t>
            </a:r>
            <a:endParaRPr lang="en-US" sz="1200" b="1" dirty="0">
              <a:solidFill>
                <a:srgbClr val="173F73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11480" y="557784"/>
            <a:ext cx="11365992" cy="0"/>
          </a:xfrm>
          <a:prstGeom prst="line">
            <a:avLst/>
          </a:prstGeom>
          <a:noFill/>
          <a:ln w="11430">
            <a:solidFill>
              <a:srgbClr val="C7D6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5488" y="749808"/>
            <a:ext cx="50292" cy="402336"/>
          </a:xfrm>
          <a:prstGeom prst="rect">
            <a:avLst/>
          </a:prstGeom>
          <a:solidFill>
            <a:srgbClr val="2A69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694944"/>
            <a:ext cx="1060704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信号怎么取：对齐同一 token 位置，只看末段去噪</a:t>
            </a:r>
            <a:endParaRPr lang="en-US" sz="2500" b="1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11480" y="6583680"/>
            <a:ext cx="11365992" cy="0"/>
          </a:xfrm>
          <a:prstGeom prst="line">
            <a:avLst/>
          </a:prstGeom>
          <a:noFill/>
          <a:ln w="6985">
            <a:solidFill>
              <a:srgbClr val="C7D6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5488" y="6620256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VLA internal routing · trap alarm · online recovery</a:t>
            </a:r>
            <a:endParaRPr lang="en-US" sz="8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8869680" y="6620256"/>
            <a:ext cx="288036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复旦大学 · Robot-Whisper</a:t>
            </a:r>
            <a:endParaRPr lang="en-US" sz="8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66928" y="1335024"/>
            <a:ext cx="5650992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0160">
            <a:solidFill>
              <a:srgbClr val="C7D6E6"/>
            </a:solidFill>
            <a:prstDash val="solid"/>
          </a:ln>
          <a:effectLst>
            <a:outerShdw blurRad="15240" dist="50800" dir="2700000" algn="bl" rotWithShape="0">
              <a:srgbClr val="7F8C99">
                <a:alpha val="7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822960" y="1554480"/>
            <a:ext cx="221284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69AC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Step A · 构造 chunk 表征</a:t>
            </a:r>
            <a:endParaRPr lang="en-US" sz="1300" b="1" dirty="0">
              <a:solidFill>
                <a:srgbClr val="2A69AC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1005840" y="2258568"/>
            <a:ext cx="4434840" cy="0"/>
          </a:xfrm>
          <a:prstGeom prst="line">
            <a:avLst/>
          </a:prstGeom>
          <a:noFill/>
          <a:ln w="17780">
            <a:solidFill>
              <a:srgbClr val="C7D6E6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1024128" y="2139696"/>
            <a:ext cx="237744" cy="237744"/>
          </a:xfrm>
          <a:prstGeom prst="ellipse">
            <a:avLst/>
          </a:prstGeom>
          <a:solidFill>
            <a:srgbClr val="EEF2F6"/>
          </a:solidFill>
          <a:ln w="6350">
            <a:solidFill>
              <a:srgbClr val="C7D6E6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24128" y="213969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1</a:t>
            </a:r>
            <a:endParaRPr lang="en-US" sz="8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1591056" y="2139696"/>
            <a:ext cx="237744" cy="237744"/>
          </a:xfrm>
          <a:prstGeom prst="ellipse">
            <a:avLst/>
          </a:prstGeom>
          <a:solidFill>
            <a:srgbClr val="EEF2F6"/>
          </a:solidFill>
          <a:ln w="6350">
            <a:solidFill>
              <a:srgbClr val="C7D6E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591056" y="213969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2</a:t>
            </a:r>
            <a:endParaRPr lang="en-US" sz="8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2157984" y="2139696"/>
            <a:ext cx="237744" cy="237744"/>
          </a:xfrm>
          <a:prstGeom prst="ellipse">
            <a:avLst/>
          </a:prstGeom>
          <a:solidFill>
            <a:srgbClr val="EEF2F6"/>
          </a:solidFill>
          <a:ln w="6350">
            <a:solidFill>
              <a:srgbClr val="C7D6E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157984" y="213969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3</a:t>
            </a:r>
            <a:endParaRPr lang="en-US" sz="8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2724912" y="2139696"/>
            <a:ext cx="237744" cy="237744"/>
          </a:xfrm>
          <a:prstGeom prst="ellipse">
            <a:avLst/>
          </a:prstGeom>
          <a:solidFill>
            <a:srgbClr val="EEF2F6"/>
          </a:solidFill>
          <a:ln w="6350">
            <a:solidFill>
              <a:srgbClr val="C7D6E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724912" y="213969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4</a:t>
            </a:r>
            <a:endParaRPr lang="en-US" sz="8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3291840" y="2139696"/>
            <a:ext cx="237744" cy="237744"/>
          </a:xfrm>
          <a:prstGeom prst="ellipse">
            <a:avLst/>
          </a:prstGeom>
          <a:solidFill>
            <a:srgbClr val="EEF2F6"/>
          </a:solidFill>
          <a:ln w="6350">
            <a:solidFill>
              <a:srgbClr val="C7D6E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291840" y="213969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5</a:t>
            </a:r>
            <a:endParaRPr lang="en-US" sz="8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3858768" y="2139696"/>
            <a:ext cx="237744" cy="237744"/>
          </a:xfrm>
          <a:prstGeom prst="ellipse">
            <a:avLst/>
          </a:prstGeom>
          <a:solidFill>
            <a:srgbClr val="2A69AC"/>
          </a:solidFill>
          <a:ln w="6350">
            <a:solidFill>
              <a:srgbClr val="2A69AC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858768" y="213969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6</a:t>
            </a:r>
            <a:endParaRPr lang="en-US" sz="85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4425696" y="2139696"/>
            <a:ext cx="237744" cy="237744"/>
          </a:xfrm>
          <a:prstGeom prst="ellipse">
            <a:avLst/>
          </a:prstGeom>
          <a:solidFill>
            <a:srgbClr val="2A69AC"/>
          </a:solidFill>
          <a:ln w="6350">
            <a:solidFill>
              <a:srgbClr val="2A69AC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425696" y="213969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7</a:t>
            </a:r>
            <a:endParaRPr lang="en-US" sz="85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4992624" y="2139696"/>
            <a:ext cx="237744" cy="237744"/>
          </a:xfrm>
          <a:prstGeom prst="ellipse">
            <a:avLst/>
          </a:prstGeom>
          <a:solidFill>
            <a:srgbClr val="2A69AC"/>
          </a:solidFill>
          <a:ln w="6350">
            <a:solidFill>
              <a:srgbClr val="2A69AC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992624" y="213969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8</a:t>
            </a:r>
            <a:endParaRPr lang="en-US" sz="85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42" name="Text 39"/>
          <p:cNvSpPr txBox="1"/>
          <p:nvPr/>
        </p:nvSpPr>
        <p:spPr>
          <a:xfrm>
            <a:off x="969264" y="2523744"/>
            <a:ext cx="1005840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去噪步 d</a:t>
            </a:r>
            <a:endParaRPr lang="en-US" sz="108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4023360" y="2532888"/>
            <a:ext cx="1444752" cy="283464"/>
          </a:xfrm>
          <a:prstGeom prst="roundRect">
            <a:avLst>
              <a:gd name="adj" fmla="val 29032"/>
            </a:avLst>
          </a:prstGeom>
          <a:solidFill>
            <a:srgbClr val="EAF2FA"/>
          </a:solidFill>
          <a:ln w="8890">
            <a:solidFill>
              <a:srgbClr val="EAF2F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023360" y="2532888"/>
            <a:ext cx="1444752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A69AC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只保留最后 q 步</a:t>
            </a:r>
            <a:endParaRPr lang="en-US" sz="1080" b="1" dirty="0">
              <a:solidFill>
                <a:srgbClr val="2A69AC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45" name="Text 42"/>
          <p:cNvSpPr txBox="1"/>
          <p:nvPr/>
        </p:nvSpPr>
        <p:spPr>
          <a:xfrm>
            <a:off x="822960" y="306324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69AC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同一 token 位置 × 选定层</a:t>
            </a:r>
            <a:endParaRPr lang="en-US" sz="1300" b="1" dirty="0">
              <a:solidFill>
                <a:srgbClr val="2A69AC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960120" y="3547872"/>
            <a:ext cx="365760" cy="256032"/>
          </a:xfrm>
          <a:prstGeom prst="roundRect">
            <a:avLst>
              <a:gd name="adj" fmla="val 12500"/>
            </a:avLst>
          </a:prstGeom>
          <a:solidFill>
            <a:srgbClr val="173F73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453896" y="3547872"/>
            <a:ext cx="365760" cy="256032"/>
          </a:xfrm>
          <a:prstGeom prst="roundRect">
            <a:avLst>
              <a:gd name="adj" fmla="val 12500"/>
            </a:avLst>
          </a:prstGeom>
          <a:solidFill>
            <a:srgbClr val="EEF2F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947672" y="3547872"/>
            <a:ext cx="365760" cy="256032"/>
          </a:xfrm>
          <a:prstGeom prst="roundRect">
            <a:avLst>
              <a:gd name="adj" fmla="val 12500"/>
            </a:avLst>
          </a:prstGeom>
          <a:solidFill>
            <a:srgbClr val="EEF2F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441448" y="3547872"/>
            <a:ext cx="365760" cy="256032"/>
          </a:xfrm>
          <a:prstGeom prst="roundRect">
            <a:avLst>
              <a:gd name="adj" fmla="val 12500"/>
            </a:avLst>
          </a:prstGeom>
          <a:solidFill>
            <a:srgbClr val="EEF2F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2935224" y="3547872"/>
            <a:ext cx="365760" cy="256032"/>
          </a:xfrm>
          <a:prstGeom prst="roundRect">
            <a:avLst>
              <a:gd name="adj" fmla="val 12500"/>
            </a:avLst>
          </a:prstGeom>
          <a:solidFill>
            <a:srgbClr val="62A7D8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429000" y="3547872"/>
            <a:ext cx="365760" cy="256032"/>
          </a:xfrm>
          <a:prstGeom prst="roundRect">
            <a:avLst>
              <a:gd name="adj" fmla="val 12500"/>
            </a:avLst>
          </a:prstGeom>
          <a:solidFill>
            <a:srgbClr val="173F73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3922776" y="3547872"/>
            <a:ext cx="365760" cy="256032"/>
          </a:xfrm>
          <a:prstGeom prst="roundRect">
            <a:avLst>
              <a:gd name="adj" fmla="val 12500"/>
            </a:avLst>
          </a:prstGeom>
          <a:solidFill>
            <a:srgbClr val="EEF2F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960120" y="3931920"/>
            <a:ext cx="365760" cy="256032"/>
          </a:xfrm>
          <a:prstGeom prst="roundRect">
            <a:avLst>
              <a:gd name="adj" fmla="val 12500"/>
            </a:avLst>
          </a:prstGeom>
          <a:solidFill>
            <a:srgbClr val="EEF2F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453896" y="3931920"/>
            <a:ext cx="365760" cy="256032"/>
          </a:xfrm>
          <a:prstGeom prst="roundRect">
            <a:avLst>
              <a:gd name="adj" fmla="val 12500"/>
            </a:avLst>
          </a:prstGeom>
          <a:solidFill>
            <a:srgbClr val="EEF2F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947672" y="3931920"/>
            <a:ext cx="365760" cy="256032"/>
          </a:xfrm>
          <a:prstGeom prst="roundRect">
            <a:avLst>
              <a:gd name="adj" fmla="val 12500"/>
            </a:avLst>
          </a:prstGeom>
          <a:solidFill>
            <a:srgbClr val="62A7D8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441448" y="3931920"/>
            <a:ext cx="365760" cy="256032"/>
          </a:xfrm>
          <a:prstGeom prst="roundRect">
            <a:avLst>
              <a:gd name="adj" fmla="val 12500"/>
            </a:avLst>
          </a:prstGeom>
          <a:solidFill>
            <a:srgbClr val="EEF2F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2935224" y="3931920"/>
            <a:ext cx="365760" cy="256032"/>
          </a:xfrm>
          <a:prstGeom prst="roundRect">
            <a:avLst>
              <a:gd name="adj" fmla="val 12500"/>
            </a:avLst>
          </a:prstGeom>
          <a:solidFill>
            <a:srgbClr val="173F73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3429000" y="3931920"/>
            <a:ext cx="365760" cy="256032"/>
          </a:xfrm>
          <a:prstGeom prst="roundRect">
            <a:avLst>
              <a:gd name="adj" fmla="val 12500"/>
            </a:avLst>
          </a:prstGeom>
          <a:solidFill>
            <a:srgbClr val="EEF2F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3922776" y="3931920"/>
            <a:ext cx="365760" cy="256032"/>
          </a:xfrm>
          <a:prstGeom prst="roundRect">
            <a:avLst>
              <a:gd name="adj" fmla="val 12500"/>
            </a:avLst>
          </a:prstGeom>
          <a:solidFill>
            <a:srgbClr val="62A7D8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960120" y="4315968"/>
            <a:ext cx="365760" cy="256032"/>
          </a:xfrm>
          <a:prstGeom prst="roundRect">
            <a:avLst>
              <a:gd name="adj" fmla="val 12500"/>
            </a:avLst>
          </a:prstGeom>
          <a:solidFill>
            <a:srgbClr val="62A7D8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453896" y="4315968"/>
            <a:ext cx="365760" cy="256032"/>
          </a:xfrm>
          <a:prstGeom prst="roundRect">
            <a:avLst>
              <a:gd name="adj" fmla="val 12500"/>
            </a:avLst>
          </a:prstGeom>
          <a:solidFill>
            <a:srgbClr val="EEF2F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947672" y="4315968"/>
            <a:ext cx="365760" cy="256032"/>
          </a:xfrm>
          <a:prstGeom prst="roundRect">
            <a:avLst>
              <a:gd name="adj" fmla="val 12500"/>
            </a:avLst>
          </a:prstGeom>
          <a:solidFill>
            <a:srgbClr val="EEF2F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441448" y="4315968"/>
            <a:ext cx="365760" cy="256032"/>
          </a:xfrm>
          <a:prstGeom prst="roundRect">
            <a:avLst>
              <a:gd name="adj" fmla="val 12500"/>
            </a:avLst>
          </a:prstGeom>
          <a:solidFill>
            <a:srgbClr val="173F73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935224" y="4315968"/>
            <a:ext cx="365760" cy="256032"/>
          </a:xfrm>
          <a:prstGeom prst="roundRect">
            <a:avLst>
              <a:gd name="adj" fmla="val 12500"/>
            </a:avLst>
          </a:prstGeom>
          <a:solidFill>
            <a:srgbClr val="62A7D8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429000" y="4315968"/>
            <a:ext cx="365760" cy="256032"/>
          </a:xfrm>
          <a:prstGeom prst="roundRect">
            <a:avLst>
              <a:gd name="adj" fmla="val 12500"/>
            </a:avLst>
          </a:prstGeom>
          <a:solidFill>
            <a:srgbClr val="EEF2F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922776" y="4315968"/>
            <a:ext cx="365760" cy="256032"/>
          </a:xfrm>
          <a:prstGeom prst="roundRect">
            <a:avLst>
              <a:gd name="adj" fmla="val 12500"/>
            </a:avLst>
          </a:prstGeom>
          <a:solidFill>
            <a:srgbClr val="EEF2F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960120" y="4700016"/>
            <a:ext cx="365760" cy="256032"/>
          </a:xfrm>
          <a:prstGeom prst="roundRect">
            <a:avLst>
              <a:gd name="adj" fmla="val 12500"/>
            </a:avLst>
          </a:prstGeom>
          <a:solidFill>
            <a:srgbClr val="EEF2F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453896" y="4700016"/>
            <a:ext cx="365760" cy="256032"/>
          </a:xfrm>
          <a:prstGeom prst="roundRect">
            <a:avLst>
              <a:gd name="adj" fmla="val 12500"/>
            </a:avLst>
          </a:prstGeom>
          <a:solidFill>
            <a:srgbClr val="EEF2F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1947672" y="4700016"/>
            <a:ext cx="365760" cy="256032"/>
          </a:xfrm>
          <a:prstGeom prst="roundRect">
            <a:avLst>
              <a:gd name="adj" fmla="val 12500"/>
            </a:avLst>
          </a:prstGeom>
          <a:solidFill>
            <a:srgbClr val="173F73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2441448" y="4700016"/>
            <a:ext cx="365760" cy="256032"/>
          </a:xfrm>
          <a:prstGeom prst="roundRect">
            <a:avLst>
              <a:gd name="adj" fmla="val 12500"/>
            </a:avLst>
          </a:prstGeom>
          <a:solidFill>
            <a:srgbClr val="EEF2F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2935224" y="4700016"/>
            <a:ext cx="365760" cy="256032"/>
          </a:xfrm>
          <a:prstGeom prst="roundRect">
            <a:avLst>
              <a:gd name="adj" fmla="val 12500"/>
            </a:avLst>
          </a:prstGeom>
          <a:solidFill>
            <a:srgbClr val="EEF2F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429000" y="4700016"/>
            <a:ext cx="365760" cy="256032"/>
          </a:xfrm>
          <a:prstGeom prst="roundRect">
            <a:avLst>
              <a:gd name="adj" fmla="val 12500"/>
            </a:avLst>
          </a:prstGeom>
          <a:solidFill>
            <a:srgbClr val="EEF2F6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922776" y="4700016"/>
            <a:ext cx="365760" cy="256032"/>
          </a:xfrm>
          <a:prstGeom prst="roundRect">
            <a:avLst>
              <a:gd name="adj" fmla="val 12500"/>
            </a:avLst>
          </a:prstGeom>
          <a:solidFill>
            <a:srgbClr val="62A7D8"/>
          </a:solidFill>
          <a:ln w="3175">
            <a:solidFill>
              <a:srgbClr val="FFFFFF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4544568" y="4910328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token u →</a:t>
            </a:r>
            <a:endParaRPr lang="en-US" sz="10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75" name="Text 72"/>
          <p:cNvSpPr txBox="1"/>
          <p:nvPr/>
        </p:nvSpPr>
        <p:spPr>
          <a:xfrm rot="16200000">
            <a:off x="749808" y="3867912"/>
            <a:ext cx="411480" cy="7315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layer ℓ</a:t>
            </a:r>
            <a:endParaRPr lang="en-US" sz="10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76" name="Shape 73"/>
          <p:cNvSpPr/>
          <p:nvPr/>
        </p:nvSpPr>
        <p:spPr>
          <a:xfrm>
            <a:off x="1005840" y="5212080"/>
            <a:ext cx="4507992" cy="393192"/>
          </a:xfrm>
          <a:prstGeom prst="roundRect">
            <a:avLst>
              <a:gd name="adj" fmla="val 20930"/>
            </a:avLst>
          </a:prstGeom>
          <a:solidFill>
            <a:srgbClr val="0D2F56"/>
          </a:solidFill>
          <a:ln w="8890">
            <a:solidFill>
              <a:srgbClr val="0D2F56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1005840" y="5212080"/>
            <a:ext cx="4507992" cy="39319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Rₜ = aggregate{Top-K expert IDs / weights}</a:t>
            </a:r>
            <a:endParaRPr lang="en-US" sz="120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78" name="Shape 75"/>
          <p:cNvSpPr/>
          <p:nvPr/>
        </p:nvSpPr>
        <p:spPr>
          <a:xfrm>
            <a:off x="6446520" y="1335024"/>
            <a:ext cx="5138928" cy="4434840"/>
          </a:xfrm>
          <a:prstGeom prst="roundRect">
            <a:avLst>
              <a:gd name="adj" fmla="val 1649"/>
            </a:avLst>
          </a:prstGeom>
          <a:solidFill>
            <a:srgbClr val="F4F7FB"/>
          </a:solidFill>
          <a:ln w="10160">
            <a:solidFill>
              <a:srgbClr val="F4F7FB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6748272" y="1554480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69AC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Step B · 计算相邻与窗口变化</a:t>
            </a:r>
            <a:endParaRPr lang="en-US" sz="1300" b="1" dirty="0">
              <a:solidFill>
                <a:srgbClr val="2A69AC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80" name="Shape 77"/>
          <p:cNvSpPr/>
          <p:nvPr/>
        </p:nvSpPr>
        <p:spPr>
          <a:xfrm>
            <a:off x="6784848" y="2057400"/>
            <a:ext cx="446227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C7D6E6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04304" y="2212848"/>
            <a:ext cx="40416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2F5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dⱼ(Rₜ,Rₜ₋₁) = 1 − |Rₜ ∩ Rₜ₋₁| / |Rₜ ∪ Rₜ₋₁|</a:t>
            </a:r>
            <a:endParaRPr lang="en-US" sz="1800" b="1" dirty="0">
              <a:solidFill>
                <a:srgbClr val="0D2F5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82" name="Text 79"/>
          <p:cNvSpPr txBox="1"/>
          <p:nvPr/>
        </p:nvSpPr>
        <p:spPr>
          <a:xfrm>
            <a:off x="6894576" y="2980944"/>
            <a:ext cx="422452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5F6B78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Jaccard distance：0 表示路由集合高度相似，1 表示完全不同。</a:t>
            </a:r>
            <a:endParaRPr lang="en-US" sz="1220" dirty="0">
              <a:solidFill>
                <a:srgbClr val="5F6B78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83" name="Shape 80"/>
          <p:cNvSpPr/>
          <p:nvPr/>
        </p:nvSpPr>
        <p:spPr>
          <a:xfrm>
            <a:off x="6784848" y="3456432"/>
            <a:ext cx="4462272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0160">
            <a:solidFill>
              <a:srgbClr val="C7D6E6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7059168" y="3602736"/>
            <a:ext cx="3913632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20" b="1" dirty="0">
                <a:solidFill>
                  <a:srgbClr val="0D2F5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Sₜ = median{ dⱼ(Rᵢ,Rᵢ₋₁) | i ∈ window W }</a:t>
            </a:r>
            <a:endParaRPr lang="en-US" sz="1720" b="1" dirty="0">
              <a:solidFill>
                <a:srgbClr val="0D2F5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85" name="Text 82"/>
          <p:cNvSpPr txBox="1"/>
          <p:nvPr/>
        </p:nvSpPr>
        <p:spPr>
          <a:xfrm>
            <a:off x="6967728" y="4407408"/>
            <a:ext cx="195681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E8C7D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高 Sₜ：内部策略仍在变化</a:t>
            </a:r>
            <a:endParaRPr lang="en-US" sz="1350" b="1" dirty="0">
              <a:solidFill>
                <a:srgbClr val="2E8C7D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86" name="Text 83"/>
          <p:cNvSpPr txBox="1"/>
          <p:nvPr/>
        </p:nvSpPr>
        <p:spPr>
          <a:xfrm>
            <a:off x="8897112" y="4407408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C84A45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持续低 Sₜ：可能进入局部路由盆地</a:t>
            </a:r>
            <a:endParaRPr lang="en-US" sz="1350" b="1" dirty="0">
              <a:solidFill>
                <a:srgbClr val="C84A45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87" name="Shape 84"/>
          <p:cNvSpPr/>
          <p:nvPr/>
        </p:nvSpPr>
        <p:spPr>
          <a:xfrm>
            <a:off x="6922008" y="4846320"/>
            <a:ext cx="4215384" cy="0"/>
          </a:xfrm>
          <a:prstGeom prst="line">
            <a:avLst/>
          </a:prstGeom>
          <a:noFill/>
          <a:ln w="8890">
            <a:solidFill>
              <a:srgbClr val="C7D6E6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903720" y="5020056"/>
            <a:ext cx="4224528" cy="5029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注意：低变化本身不等于失败。需要“持续性”并与任务进展约束结合，避免把稳定成功误判为 Trap。</a:t>
            </a:r>
            <a:endParaRPr lang="en-US" sz="126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89" name="Text 86"/>
          <p:cNvSpPr txBox="1"/>
          <p:nvPr/>
        </p:nvSpPr>
        <p:spPr>
          <a:xfrm>
            <a:off x="749808" y="5925312"/>
            <a:ext cx="10716768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i="1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可扩展：有 gate 权重时使用 weighted Jaccard；并比较不同层、token、q 与 W。</a:t>
            </a:r>
            <a:endParaRPr lang="en-US" sz="1240" i="1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oboWis_unpack/ppt/media/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735" y="128016"/>
            <a:ext cx="1010489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55648" y="155448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ROBOT-WHISPER</a:t>
            </a:r>
            <a:endParaRPr lang="en-US" sz="1050" b="1" kern="0" spc="10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406640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06640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动机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065008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65008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723376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23376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方法</a:t>
            </a:r>
            <a:endParaRPr lang="en-US" sz="95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381744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381744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证据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0040112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40112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验证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0698480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698480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计划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1384280" y="128016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3F73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09</a:t>
            </a:r>
            <a:endParaRPr lang="en-US" sz="1200" b="1" dirty="0">
              <a:solidFill>
                <a:srgbClr val="173F73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11480" y="557784"/>
            <a:ext cx="11365992" cy="0"/>
          </a:xfrm>
          <a:prstGeom prst="line">
            <a:avLst/>
          </a:prstGeom>
          <a:noFill/>
          <a:ln w="11430">
            <a:solidFill>
              <a:srgbClr val="C7D6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5488" y="749808"/>
            <a:ext cx="50292" cy="402336"/>
          </a:xfrm>
          <a:prstGeom prst="rect">
            <a:avLst/>
          </a:prstGeom>
          <a:solidFill>
            <a:srgbClr val="2A69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694944"/>
            <a:ext cx="1060704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在线判别：不是看一次异常，而是看一段“持续失去变化”</a:t>
            </a:r>
            <a:endParaRPr lang="en-US" sz="2500" b="1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11480" y="6583680"/>
            <a:ext cx="11365992" cy="0"/>
          </a:xfrm>
          <a:prstGeom prst="line">
            <a:avLst/>
          </a:prstGeom>
          <a:noFill/>
          <a:ln w="6985">
            <a:solidFill>
              <a:srgbClr val="C7D6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5488" y="6620256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VLA internal routing · trap alarm · online recovery</a:t>
            </a:r>
            <a:endParaRPr lang="en-US" sz="8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8869680" y="6620256"/>
            <a:ext cx="288036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复旦大学 · Robot-Whisper</a:t>
            </a:r>
            <a:endParaRPr lang="en-US" sz="8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66928" y="1353312"/>
            <a:ext cx="6583680" cy="4407408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 w="10160">
            <a:solidFill>
              <a:srgbClr val="C7D6E6"/>
            </a:solidFill>
            <a:prstDash val="solid"/>
          </a:ln>
          <a:effectLst>
            <a:outerShdw blurRad="15240" dist="50800" dir="2700000" algn="bl" rotWithShape="0">
              <a:srgbClr val="7F8C99">
                <a:alpha val="7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850392" y="1572768"/>
            <a:ext cx="217627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69AC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示意：路由变化分数 Sₜ</a:t>
            </a:r>
            <a:endParaRPr lang="en-US" sz="1300" b="1" dirty="0">
              <a:solidFill>
                <a:srgbClr val="2A69AC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1042416" y="5175504"/>
            <a:ext cx="5705856" cy="0"/>
          </a:xfrm>
          <a:prstGeom prst="line">
            <a:avLst/>
          </a:prstGeom>
          <a:noFill/>
          <a:ln w="15240">
            <a:solidFill>
              <a:srgbClr val="35404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42416" y="2011680"/>
            <a:ext cx="0" cy="3163824"/>
          </a:xfrm>
          <a:prstGeom prst="line">
            <a:avLst/>
          </a:prstGeom>
          <a:noFill/>
          <a:ln w="15240">
            <a:solidFill>
              <a:srgbClr val="35404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394960" y="5340096"/>
            <a:ext cx="1170432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control chunk t</a:t>
            </a:r>
            <a:endParaRPr lang="en-US" sz="10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694944" y="1984248"/>
            <a:ext cx="310896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Sₜ</a:t>
            </a:r>
            <a:endParaRPr lang="en-US" sz="1150" b="1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1042416" y="4160520"/>
            <a:ext cx="5705856" cy="0"/>
          </a:xfrm>
          <a:prstGeom prst="line">
            <a:avLst/>
          </a:prstGeom>
          <a:noFill/>
          <a:ln w="15240">
            <a:solidFill>
              <a:srgbClr val="C84A45"/>
            </a:solidFill>
            <a:prstDash val="dash"/>
          </a:ln>
        </p:spPr>
      </p:sp>
      <p:sp>
        <p:nvSpPr>
          <p:cNvPr id="30" name="Text 27"/>
          <p:cNvSpPr txBox="1"/>
          <p:nvPr/>
        </p:nvSpPr>
        <p:spPr>
          <a:xfrm>
            <a:off x="1115568" y="3849624"/>
            <a:ext cx="475488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C84A45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τ_low</a:t>
            </a:r>
            <a:endParaRPr lang="en-US" sz="1050" b="1" dirty="0">
              <a:solidFill>
                <a:srgbClr val="C84A45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1042416" y="4160520"/>
            <a:ext cx="5705856" cy="1014984"/>
          </a:xfrm>
          <a:prstGeom prst="rect">
            <a:avLst/>
          </a:prstGeom>
          <a:solidFill>
            <a:srgbClr val="FCE9E8">
              <a:alpha val="75000"/>
            </a:srgbClr>
          </a:solidFill>
          <a:ln w="12700">
            <a:solidFill>
              <a:srgbClr val="FCE9E8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188720" y="2481859"/>
            <a:ext cx="284908" cy="313846"/>
          </a:xfrm>
          <a:prstGeom prst="line">
            <a:avLst/>
          </a:prstGeom>
          <a:noFill/>
          <a:ln w="31750">
            <a:solidFill>
              <a:srgbClr val="2A69A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473628" y="2571529"/>
            <a:ext cx="284908" cy="224175"/>
          </a:xfrm>
          <a:prstGeom prst="line">
            <a:avLst/>
          </a:prstGeom>
          <a:noFill/>
          <a:ln w="31750">
            <a:solidFill>
              <a:srgbClr val="2A69A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758536" y="2571529"/>
            <a:ext cx="284908" cy="582856"/>
          </a:xfrm>
          <a:prstGeom prst="line">
            <a:avLst/>
          </a:prstGeom>
          <a:noFill/>
          <a:ln w="31750">
            <a:solidFill>
              <a:srgbClr val="2A69A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043443" y="2930210"/>
            <a:ext cx="284908" cy="224175"/>
          </a:xfrm>
          <a:prstGeom prst="line">
            <a:avLst/>
          </a:prstGeom>
          <a:noFill/>
          <a:ln w="31750">
            <a:solidFill>
              <a:srgbClr val="2A69A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328351" y="2930210"/>
            <a:ext cx="284908" cy="538021"/>
          </a:xfrm>
          <a:prstGeom prst="line">
            <a:avLst/>
          </a:prstGeom>
          <a:noFill/>
          <a:ln w="31750">
            <a:solidFill>
              <a:srgbClr val="2A69A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613259" y="3333726"/>
            <a:ext cx="284908" cy="134505"/>
          </a:xfrm>
          <a:prstGeom prst="line">
            <a:avLst/>
          </a:prstGeom>
          <a:noFill/>
          <a:ln w="31750">
            <a:solidFill>
              <a:srgbClr val="2A69A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2898167" y="3333725"/>
            <a:ext cx="284908" cy="269011"/>
          </a:xfrm>
          <a:prstGeom prst="line">
            <a:avLst/>
          </a:prstGeom>
          <a:noFill/>
          <a:ln w="31750">
            <a:solidFill>
              <a:srgbClr val="2A69A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183075" y="3602736"/>
            <a:ext cx="284908" cy="89670"/>
          </a:xfrm>
          <a:prstGeom prst="line">
            <a:avLst/>
          </a:prstGeom>
          <a:noFill/>
          <a:ln w="31750">
            <a:solidFill>
              <a:srgbClr val="2A69A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467982" y="3692406"/>
            <a:ext cx="284908" cy="179340"/>
          </a:xfrm>
          <a:prstGeom prst="line">
            <a:avLst/>
          </a:prstGeom>
          <a:noFill/>
          <a:ln w="31750">
            <a:solidFill>
              <a:srgbClr val="2A69A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752890" y="3871747"/>
            <a:ext cx="284908" cy="403516"/>
          </a:xfrm>
          <a:prstGeom prst="line">
            <a:avLst/>
          </a:prstGeom>
          <a:noFill/>
          <a:ln w="31750">
            <a:solidFill>
              <a:srgbClr val="2A69A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037798" y="4275262"/>
            <a:ext cx="284908" cy="17934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322706" y="4454603"/>
            <a:ext cx="284908" cy="89670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607613" y="4544273"/>
            <a:ext cx="284908" cy="44835"/>
          </a:xfrm>
          <a:prstGeom prst="line">
            <a:avLst/>
          </a:prstGeom>
          <a:noFill/>
          <a:ln w="31750">
            <a:solidFill>
              <a:srgbClr val="E8A33D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892521" y="4589108"/>
            <a:ext cx="284908" cy="44835"/>
          </a:xfrm>
          <a:prstGeom prst="line">
            <a:avLst/>
          </a:prstGeom>
          <a:noFill/>
          <a:ln w="31750">
            <a:solidFill>
              <a:srgbClr val="C84A45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177429" y="4633943"/>
            <a:ext cx="284908" cy="89670"/>
          </a:xfrm>
          <a:prstGeom prst="line">
            <a:avLst/>
          </a:prstGeom>
          <a:noFill/>
          <a:ln w="31750">
            <a:solidFill>
              <a:srgbClr val="C84A45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462337" y="4723613"/>
            <a:ext cx="284908" cy="44835"/>
          </a:xfrm>
          <a:prstGeom prst="line">
            <a:avLst/>
          </a:prstGeom>
          <a:noFill/>
          <a:ln w="31750">
            <a:solidFill>
              <a:srgbClr val="C84A45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747245" y="4768449"/>
            <a:ext cx="284908" cy="44835"/>
          </a:xfrm>
          <a:prstGeom prst="line">
            <a:avLst/>
          </a:prstGeom>
          <a:noFill/>
          <a:ln w="31750">
            <a:solidFill>
              <a:srgbClr val="C84A45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032152" y="4813284"/>
            <a:ext cx="284908" cy="0"/>
          </a:xfrm>
          <a:prstGeom prst="line">
            <a:avLst/>
          </a:prstGeom>
          <a:noFill/>
          <a:ln w="31750">
            <a:solidFill>
              <a:srgbClr val="C84A45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317060" y="4813284"/>
            <a:ext cx="284908" cy="44835"/>
          </a:xfrm>
          <a:prstGeom prst="line">
            <a:avLst/>
          </a:prstGeom>
          <a:noFill/>
          <a:ln w="31750">
            <a:solidFill>
              <a:srgbClr val="C84A45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177429" y="2103120"/>
            <a:ext cx="0" cy="3072384"/>
          </a:xfrm>
          <a:prstGeom prst="line">
            <a:avLst/>
          </a:prstGeom>
          <a:noFill/>
          <a:ln w="13970">
            <a:solidFill>
              <a:srgbClr val="C84A45"/>
            </a:solidFill>
            <a:prstDash val="dash"/>
          </a:ln>
        </p:spPr>
      </p:sp>
      <p:sp>
        <p:nvSpPr>
          <p:cNvPr id="52" name="Shape 49"/>
          <p:cNvSpPr/>
          <p:nvPr/>
        </p:nvSpPr>
        <p:spPr>
          <a:xfrm>
            <a:off x="5095133" y="4551647"/>
            <a:ext cx="164592" cy="164592"/>
          </a:xfrm>
          <a:prstGeom prst="ellipse">
            <a:avLst/>
          </a:prstGeom>
          <a:solidFill>
            <a:srgbClr val="FFFFFF"/>
          </a:solidFill>
          <a:ln w="6350">
            <a:solidFill>
              <a:srgbClr val="C84A45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4884821" y="2130552"/>
            <a:ext cx="58521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4A45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报警</a:t>
            </a:r>
            <a:endParaRPr lang="en-US" sz="1200" b="1" dirty="0">
              <a:solidFill>
                <a:srgbClr val="C84A45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4114800" y="4617720"/>
            <a:ext cx="2103120" cy="310896"/>
          </a:xfrm>
          <a:prstGeom prst="roundRect">
            <a:avLst>
              <a:gd name="adj" fmla="val 26471"/>
            </a:avLst>
          </a:prstGeom>
          <a:solidFill>
            <a:srgbClr val="FCE9E8"/>
          </a:solidFill>
          <a:ln w="8890">
            <a:solidFill>
              <a:srgbClr val="FCE9E8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4114800" y="4617720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C84A45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m 个连续窗口低于阈值</a:t>
            </a:r>
            <a:endParaRPr lang="en-US" sz="1080" b="1" dirty="0">
              <a:solidFill>
                <a:srgbClr val="C84A45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7388352" y="1353312"/>
            <a:ext cx="4187952" cy="4407408"/>
          </a:xfrm>
          <a:prstGeom prst="roundRect">
            <a:avLst>
              <a:gd name="adj" fmla="val 1747"/>
            </a:avLst>
          </a:prstGeom>
          <a:solidFill>
            <a:srgbClr val="F4F7FB"/>
          </a:solidFill>
          <a:ln w="10160">
            <a:solidFill>
              <a:srgbClr val="F4F7FB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7662672" y="1572768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69AC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在线更新逻辑</a:t>
            </a:r>
            <a:endParaRPr lang="en-US" sz="1300" b="1" dirty="0">
              <a:solidFill>
                <a:srgbClr val="2A69AC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7662672" y="2121408"/>
            <a:ext cx="384048" cy="384048"/>
          </a:xfrm>
          <a:prstGeom prst="ellipse">
            <a:avLst/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7662672" y="21214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1</a:t>
            </a:r>
            <a:endParaRPr lang="en-US" sz="120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60" name="Text 57"/>
          <p:cNvSpPr txBox="1"/>
          <p:nvPr/>
        </p:nvSpPr>
        <p:spPr>
          <a:xfrm>
            <a:off x="8211312" y="2112264"/>
            <a:ext cx="288036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读取当前 chunk 的路由表征 Rₜ</a:t>
            </a:r>
            <a:endParaRPr lang="en-US" sz="142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7854696" y="2532888"/>
            <a:ext cx="0" cy="274320"/>
          </a:xfrm>
          <a:prstGeom prst="line">
            <a:avLst/>
          </a:prstGeom>
          <a:noFill/>
          <a:ln w="15240">
            <a:solidFill>
              <a:srgbClr val="C7D6E6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662672" y="2852928"/>
            <a:ext cx="384048" cy="384048"/>
          </a:xfrm>
          <a:prstGeom prst="ellipse">
            <a:avLst/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7662672" y="285292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2</a:t>
            </a:r>
            <a:endParaRPr lang="en-US" sz="120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64" name="Text 61"/>
          <p:cNvSpPr txBox="1"/>
          <p:nvPr/>
        </p:nvSpPr>
        <p:spPr>
          <a:xfrm>
            <a:off x="8211312" y="2843784"/>
            <a:ext cx="288036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更新 dₜ 与窗口分数 Sₜ</a:t>
            </a:r>
            <a:endParaRPr lang="en-US" sz="142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7854696" y="3264408"/>
            <a:ext cx="0" cy="274320"/>
          </a:xfrm>
          <a:prstGeom prst="line">
            <a:avLst/>
          </a:prstGeom>
          <a:noFill/>
          <a:ln w="15240">
            <a:solidFill>
              <a:srgbClr val="C7D6E6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7662672" y="3584448"/>
            <a:ext cx="384048" cy="384048"/>
          </a:xfrm>
          <a:prstGeom prst="ellipse">
            <a:avLst/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7662672" y="358444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3</a:t>
            </a:r>
            <a:endParaRPr lang="en-US" sz="120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68" name="Text 65"/>
          <p:cNvSpPr txBox="1"/>
          <p:nvPr/>
        </p:nvSpPr>
        <p:spPr>
          <a:xfrm>
            <a:off x="8211312" y="3575304"/>
            <a:ext cx="288036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若 Sₜ &lt; τ 且进展 &lt; ε，累计一次</a:t>
            </a:r>
            <a:endParaRPr lang="en-US" sz="142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69" name="Shape 66"/>
          <p:cNvSpPr/>
          <p:nvPr/>
        </p:nvSpPr>
        <p:spPr>
          <a:xfrm>
            <a:off x="7854696" y="3995928"/>
            <a:ext cx="0" cy="274320"/>
          </a:xfrm>
          <a:prstGeom prst="line">
            <a:avLst/>
          </a:prstGeom>
          <a:noFill/>
          <a:ln w="15240">
            <a:solidFill>
              <a:srgbClr val="C7D6E6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7662672" y="4315968"/>
            <a:ext cx="384048" cy="384048"/>
          </a:xfrm>
          <a:prstGeom prst="ellipse">
            <a:avLst/>
          </a:prstGeom>
          <a:solidFill>
            <a:srgbClr val="C84A45"/>
          </a:solidFill>
          <a:ln w="12700">
            <a:solidFill>
              <a:srgbClr val="C84A45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7662672" y="43159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4</a:t>
            </a:r>
            <a:endParaRPr lang="en-US" sz="120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72" name="Text 69"/>
          <p:cNvSpPr txBox="1"/>
          <p:nvPr/>
        </p:nvSpPr>
        <p:spPr>
          <a:xfrm>
            <a:off x="8211312" y="4306824"/>
            <a:ext cx="288036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20" b="1" dirty="0">
                <a:solidFill>
                  <a:srgbClr val="C84A45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连续 m 次满足 → 报警并保存状态</a:t>
            </a:r>
            <a:endParaRPr lang="en-US" sz="1420" b="1" dirty="0">
              <a:solidFill>
                <a:srgbClr val="C84A45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73" name="Shape 70"/>
          <p:cNvSpPr/>
          <p:nvPr/>
        </p:nvSpPr>
        <p:spPr>
          <a:xfrm>
            <a:off x="7680960" y="5001768"/>
            <a:ext cx="3529584" cy="0"/>
          </a:xfrm>
          <a:prstGeom prst="line">
            <a:avLst/>
          </a:prstGeom>
          <a:noFill/>
          <a:ln w="8890">
            <a:solidFill>
              <a:srgbClr val="C7D6E6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7680960" y="5157216"/>
            <a:ext cx="512064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A69AC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输出</a:t>
            </a:r>
            <a:endParaRPr lang="en-US" sz="1200" b="1" dirty="0">
              <a:solidFill>
                <a:srgbClr val="2A69AC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75" name="Text 72"/>
          <p:cNvSpPr txBox="1"/>
          <p:nvPr/>
        </p:nvSpPr>
        <p:spPr>
          <a:xfrm>
            <a:off x="8211312" y="5111496"/>
            <a:ext cx="296265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D2F5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alarm / onset / lead time / confidence</a:t>
            </a:r>
            <a:endParaRPr lang="en-US" sz="1250" b="1" dirty="0">
              <a:solidFill>
                <a:srgbClr val="0D2F5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76" name="Text 73"/>
          <p:cNvSpPr txBox="1"/>
          <p:nvPr/>
        </p:nvSpPr>
        <p:spPr>
          <a:xfrm>
            <a:off x="713232" y="5925312"/>
            <a:ext cx="10753344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阈值可由成功轨迹分位数或验证集校准；核心消融为 q、W、层、token 与持续长度 m。</a:t>
            </a:r>
            <a:endParaRPr lang="en-US" sz="12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oboWis_unpack/ppt/media/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735" y="128016"/>
            <a:ext cx="1010489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55648" y="155448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ROBOT-WHISPER</a:t>
            </a:r>
            <a:endParaRPr lang="en-US" sz="1050" b="1" kern="0" spc="10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406640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06640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动机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065008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65008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723376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23376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方法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381744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381744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证据</a:t>
            </a:r>
            <a:endParaRPr lang="en-US" sz="95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0040112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40112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验证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0698480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698480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计划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1384280" y="128016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3F73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10</a:t>
            </a:r>
            <a:endParaRPr lang="en-US" sz="1200" b="1" dirty="0">
              <a:solidFill>
                <a:srgbClr val="173F73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11480" y="557784"/>
            <a:ext cx="11365992" cy="0"/>
          </a:xfrm>
          <a:prstGeom prst="line">
            <a:avLst/>
          </a:prstGeom>
          <a:noFill/>
          <a:ln w="11430">
            <a:solidFill>
              <a:srgbClr val="C7D6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5488" y="749808"/>
            <a:ext cx="50292" cy="402336"/>
          </a:xfrm>
          <a:prstGeom prst="rect">
            <a:avLst/>
          </a:prstGeom>
          <a:solidFill>
            <a:srgbClr val="2A69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694944"/>
            <a:ext cx="1060704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初步现象 I：失败轨迹尾部的路由变化出现收缩</a:t>
            </a:r>
            <a:endParaRPr lang="en-US" sz="2500" b="1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11480" y="6583680"/>
            <a:ext cx="11365992" cy="0"/>
          </a:xfrm>
          <a:prstGeom prst="line">
            <a:avLst/>
          </a:prstGeom>
          <a:noFill/>
          <a:ln w="6985">
            <a:solidFill>
              <a:srgbClr val="C7D6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5488" y="6620256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VLA internal routing · trap alarm · online recovery</a:t>
            </a:r>
            <a:endParaRPr lang="en-US" sz="8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8869680" y="6620256"/>
            <a:ext cx="288036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复旦大学 · Robot-Whisper</a:t>
            </a:r>
            <a:endParaRPr lang="en-US" sz="8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66928" y="1325880"/>
            <a:ext cx="7452360" cy="4526280"/>
          </a:xfrm>
          <a:prstGeom prst="roundRect">
            <a:avLst>
              <a:gd name="adj" fmla="val 1616"/>
            </a:avLst>
          </a:prstGeom>
          <a:solidFill>
            <a:srgbClr val="11161C"/>
          </a:solidFill>
          <a:ln w="10160">
            <a:solidFill>
              <a:srgbClr val="11161C"/>
            </a:solidFill>
            <a:prstDash val="solid"/>
          </a:ln>
          <a:effectLst>
            <a:outerShdw blurRad="15240" dist="50800" dir="2700000" algn="bl" rotWithShape="0">
              <a:srgbClr val="7F8C99">
                <a:alpha val="12000"/>
              </a:srgbClr>
            </a:outerShdw>
          </a:effectLst>
        </p:spPr>
      </p:sp>
      <p:pic>
        <p:nvPicPr>
          <p:cNvPr id="24" name="Image 1" descr="/mnt/data/roboWis_unpack/ppt/media/imag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576051"/>
            <a:ext cx="7159752" cy="4044226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5980176" y="1691640"/>
            <a:ext cx="1024128" cy="283464"/>
          </a:xfrm>
          <a:prstGeom prst="roundRect">
            <a:avLst>
              <a:gd name="adj" fmla="val 29032"/>
            </a:avLst>
          </a:prstGeom>
          <a:solidFill>
            <a:srgbClr val="E8A33D"/>
          </a:solidFill>
          <a:ln w="8890">
            <a:solidFill>
              <a:srgbClr val="E8A33D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980176" y="1691640"/>
            <a:ext cx="1024128" cy="2834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trap onset</a:t>
            </a:r>
            <a:endParaRPr lang="en-US" sz="108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7" name="Shape 23"/>
          <p:cNvSpPr/>
          <p:nvPr/>
        </p:nvSpPr>
        <p:spPr>
          <a:xfrm>
            <a:off x="6492240" y="1993392"/>
            <a:ext cx="0" cy="402336"/>
          </a:xfrm>
          <a:prstGeom prst="line">
            <a:avLst/>
          </a:prstGeom>
          <a:noFill/>
          <a:ln w="2032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8" name="Shape 24"/>
          <p:cNvSpPr/>
          <p:nvPr/>
        </p:nvSpPr>
        <p:spPr>
          <a:xfrm>
            <a:off x="8284464" y="1325880"/>
            <a:ext cx="3300984" cy="4526280"/>
          </a:xfrm>
          <a:prstGeom prst="roundRect">
            <a:avLst>
              <a:gd name="adj" fmla="val 2216"/>
            </a:avLst>
          </a:prstGeom>
          <a:solidFill>
            <a:srgbClr val="FFFFFF"/>
          </a:solidFill>
          <a:ln w="10160">
            <a:solidFill>
              <a:srgbClr val="C7D6E6"/>
            </a:solidFill>
            <a:prstDash val="solid"/>
          </a:ln>
          <a:effectLst>
            <a:outerShdw blurRad="15240" dist="50800" dir="2700000" algn="bl" rotWithShape="0">
              <a:srgbClr val="7F8C99">
                <a:alpha val="8000"/>
              </a:srgbClr>
            </a:outerShdw>
          </a:effectLst>
        </p:spPr>
      </p:sp>
      <p:sp>
        <p:nvSpPr>
          <p:cNvPr id="29" name="Text 25"/>
          <p:cNvSpPr txBox="1"/>
          <p:nvPr/>
        </p:nvSpPr>
        <p:spPr>
          <a:xfrm>
            <a:off x="8540496" y="1572768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69AC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当前可见的三点</a:t>
            </a:r>
            <a:endParaRPr lang="en-US" sz="1300" b="1" dirty="0">
              <a:solidFill>
                <a:srgbClr val="2A69AC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0" name="Shape 26"/>
          <p:cNvSpPr/>
          <p:nvPr/>
        </p:nvSpPr>
        <p:spPr>
          <a:xfrm>
            <a:off x="8513064" y="2167128"/>
            <a:ext cx="128016" cy="128016"/>
          </a:xfrm>
          <a:prstGeom prst="ellipse">
            <a:avLst/>
          </a:prstGeom>
          <a:solidFill>
            <a:srgbClr val="2E8C7D"/>
          </a:solidFill>
          <a:ln w="6350">
            <a:solidFill>
              <a:srgbClr val="2E8C7D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778240" y="210312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2E8C7D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成功轨迹</a:t>
            </a:r>
            <a:endParaRPr lang="en-US" sz="1320" b="1" dirty="0">
              <a:solidFill>
                <a:srgbClr val="2E8C7D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2" name="Text 28"/>
          <p:cNvSpPr txBox="1"/>
          <p:nvPr/>
        </p:nvSpPr>
        <p:spPr>
          <a:xfrm>
            <a:off x="8778240" y="2404872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路由在时间上持续切换，保留一定异质性。</a:t>
            </a:r>
            <a:endParaRPr lang="en-US" sz="128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3" name="Shape 29"/>
          <p:cNvSpPr/>
          <p:nvPr/>
        </p:nvSpPr>
        <p:spPr>
          <a:xfrm>
            <a:off x="8513064" y="3127248"/>
            <a:ext cx="128016" cy="128016"/>
          </a:xfrm>
          <a:prstGeom prst="ellipse">
            <a:avLst/>
          </a:prstGeom>
          <a:solidFill>
            <a:srgbClr val="C84A45"/>
          </a:solidFill>
          <a:ln w="6350">
            <a:solidFill>
              <a:srgbClr val="C84A45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8778240" y="306324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C84A45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Trap 轨迹</a:t>
            </a:r>
            <a:endParaRPr lang="en-US" sz="1320" b="1" dirty="0">
              <a:solidFill>
                <a:srgbClr val="C84A45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35" name="Text 31"/>
          <p:cNvSpPr txBox="1"/>
          <p:nvPr/>
        </p:nvSpPr>
        <p:spPr>
          <a:xfrm>
            <a:off x="8778240" y="3364992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估计 onset 之后，部分层出现横向重复、低变化模式。</a:t>
            </a:r>
            <a:endParaRPr lang="en-US" sz="128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36" name="Shape 32"/>
          <p:cNvSpPr/>
          <p:nvPr/>
        </p:nvSpPr>
        <p:spPr>
          <a:xfrm>
            <a:off x="8513064" y="4087368"/>
            <a:ext cx="128016" cy="128016"/>
          </a:xfrm>
          <a:prstGeom prst="ellipse">
            <a:avLst/>
          </a:prstGeom>
          <a:solidFill>
            <a:srgbClr val="E8A33D"/>
          </a:solidFill>
          <a:ln w="6350">
            <a:solidFill>
              <a:srgbClr val="E8A33D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8778240" y="4023360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20" b="1" dirty="0">
                <a:solidFill>
                  <a:srgbClr val="E8A33D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时序关系</a:t>
            </a:r>
            <a:endParaRPr lang="en-US" sz="1320" b="1" dirty="0">
              <a:solidFill>
                <a:srgbClr val="E8A33D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8" name="Text 34"/>
          <p:cNvSpPr txBox="1"/>
          <p:nvPr/>
        </p:nvSpPr>
        <p:spPr>
          <a:xfrm>
            <a:off x="8778240" y="4325112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内部模式的收缩出现在最终“超时失败”之前。</a:t>
            </a:r>
            <a:endParaRPr lang="en-US" sz="128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39" name="Shape 35"/>
          <p:cNvSpPr/>
          <p:nvPr/>
        </p:nvSpPr>
        <p:spPr>
          <a:xfrm>
            <a:off x="8540496" y="5047488"/>
            <a:ext cx="2724912" cy="512064"/>
          </a:xfrm>
          <a:prstGeom prst="roundRect">
            <a:avLst>
              <a:gd name="adj" fmla="val 14286"/>
            </a:avLst>
          </a:prstGeom>
          <a:solidFill>
            <a:srgbClr val="FFF4DF"/>
          </a:solidFill>
          <a:ln w="10160">
            <a:solidFill>
              <a:srgbClr val="FFF4DF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8677656" y="5138928"/>
            <a:ext cx="2450592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A33D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这是相关性证据，不等于因果证明。</a:t>
            </a:r>
            <a:endParaRPr lang="en-US" sz="1150" b="1" dirty="0">
              <a:solidFill>
                <a:srgbClr val="E8A33D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41" name="Text 37"/>
          <p:cNvSpPr txBox="1"/>
          <p:nvPr/>
        </p:nvSpPr>
        <p:spPr>
          <a:xfrm>
            <a:off x="786384" y="5989320"/>
            <a:ext cx="10570464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下一步：跨任务、跨层、跨 token 验证效应是否稳定，并与动作 / 位姿 / 进度等外部基线对照。</a:t>
            </a:r>
            <a:endParaRPr lang="en-US" sz="12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oboWis_unpack/ppt/media/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735" y="128016"/>
            <a:ext cx="1010489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55648" y="155448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-20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ROBOT-WHISPER</a:t>
            </a:r>
            <a:endParaRPr lang="en-US" sz="1050" b="1" kern="0" spc="-20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406640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06640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kern="0" spc="-20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动机</a:t>
            </a:r>
            <a:endParaRPr lang="en-US" sz="950" kern="0" spc="-20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065008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65008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kern="0" spc="-20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950" kern="0" spc="-20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723376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23376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kern="0" spc="-20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方法</a:t>
            </a:r>
            <a:endParaRPr lang="en-US" sz="950" kern="0" spc="-20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381744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381744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-200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证据</a:t>
            </a:r>
            <a:endParaRPr lang="en-US" sz="950" b="1" kern="0" spc="-200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0040112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40112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kern="0" spc="-20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验证</a:t>
            </a:r>
            <a:endParaRPr lang="en-US" sz="950" kern="0" spc="-20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0698480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698480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kern="0" spc="-20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计划</a:t>
            </a:r>
            <a:endParaRPr lang="en-US" sz="950" kern="0" spc="-20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1384280" y="128016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kern="0" spc="-200" dirty="0">
                <a:solidFill>
                  <a:srgbClr val="173F73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1200" b="1" kern="0" spc="-200" dirty="0">
              <a:solidFill>
                <a:srgbClr val="173F73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11480" y="557784"/>
            <a:ext cx="11365992" cy="0"/>
          </a:xfrm>
          <a:prstGeom prst="line">
            <a:avLst/>
          </a:prstGeom>
          <a:noFill/>
          <a:ln w="11430">
            <a:solidFill>
              <a:srgbClr val="C7D6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5488" y="749808"/>
            <a:ext cx="50292" cy="402336"/>
          </a:xfrm>
          <a:prstGeom prst="rect">
            <a:avLst/>
          </a:prstGeom>
          <a:solidFill>
            <a:srgbClr val="2A69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694944"/>
            <a:ext cx="1060704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kern="0" spc="-20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初步现象 II：动作看起来还在动，内部状态可能已经“卡住”</a:t>
            </a:r>
            <a:endParaRPr lang="en-US" sz="2500" b="1" kern="0" spc="-20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11480" y="6583680"/>
            <a:ext cx="11365992" cy="0"/>
          </a:xfrm>
          <a:prstGeom prst="line">
            <a:avLst/>
          </a:prstGeom>
          <a:noFill/>
          <a:ln w="6985">
            <a:solidFill>
              <a:srgbClr val="C7D6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5488" y="6620256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kern="0" spc="-20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VLA internal routing · trap alarm · online recovery</a:t>
            </a:r>
            <a:endParaRPr lang="en-US" sz="850" kern="0" spc="-20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8869680" y="6620256"/>
            <a:ext cx="288036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kern="0" spc="-20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复旦大学 · Robot-Whisper</a:t>
            </a:r>
            <a:endParaRPr lang="en-US" sz="850" kern="0" spc="-20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66928" y="1335024"/>
            <a:ext cx="5157216" cy="4370832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10160">
            <a:solidFill>
              <a:srgbClr val="C7D6E6"/>
            </a:solidFill>
            <a:prstDash val="solid"/>
          </a:ln>
          <a:effectLst>
            <a:outerShdw blurRad="15240" dist="50800" dir="2700000" algn="bl" rotWithShape="0">
              <a:srgbClr val="7F8C99">
                <a:alpha val="7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22960" y="157276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5F6B78"/>
          </a:solidFill>
          <a:ln w="12700">
            <a:solidFill>
              <a:srgbClr val="5F6B7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2960" y="157276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spc="-200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外部行为</a:t>
            </a:r>
            <a:endParaRPr lang="en-US" sz="1100" b="1" kern="0" spc="-200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pic>
        <p:nvPicPr>
          <p:cNvPr id="26" name="Image 1" descr="/mnt/data/roboWis_unpack/ppt/media/image16.png"/>
          <p:cNvPicPr>
            <a:picLocks noChangeAspect="1"/>
          </p:cNvPicPr>
          <p:nvPr/>
        </p:nvPicPr>
        <p:blipFill>
          <a:blip r:embed="rId2"/>
          <a:srcRect r="-178" b="1000"/>
          <a:stretch>
            <a:fillRect/>
          </a:stretch>
        </p:blipFill>
        <p:spPr>
          <a:xfrm>
            <a:off x="841248" y="2011680"/>
            <a:ext cx="4553712" cy="2304288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932688" y="4535424"/>
            <a:ext cx="431596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kern="0" spc="-20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轨迹仍在波动，机器人也仍在执行动作。</a:t>
            </a:r>
            <a:endParaRPr lang="en-US" sz="1400" b="1" kern="0" spc="-20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8" name="Text 24"/>
          <p:cNvSpPr txBox="1"/>
          <p:nvPr/>
        </p:nvSpPr>
        <p:spPr>
          <a:xfrm>
            <a:off x="932688" y="4937760"/>
            <a:ext cx="4315968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kern="0" spc="-200" dirty="0">
                <a:solidFill>
                  <a:srgbClr val="5F6B78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仅看 action / pose，很难判断这是有效微调还是无效循环。</a:t>
            </a:r>
            <a:endParaRPr lang="en-US" sz="1260" kern="0" spc="-200" dirty="0">
              <a:solidFill>
                <a:srgbClr val="5F6B78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5879592" y="3337560"/>
            <a:ext cx="448056" cy="0"/>
          </a:xfrm>
          <a:prstGeom prst="line">
            <a:avLst/>
          </a:prstGeom>
          <a:noFill/>
          <a:ln w="30480">
            <a:solidFill>
              <a:srgbClr val="2A69AC"/>
            </a:solidFill>
            <a:prstDash val="solid"/>
            <a:tailEnd type="triangle"/>
          </a:ln>
        </p:spPr>
      </p:sp>
      <p:sp>
        <p:nvSpPr>
          <p:cNvPr id="30" name="Text 26"/>
          <p:cNvSpPr txBox="1"/>
          <p:nvPr/>
        </p:nvSpPr>
        <p:spPr>
          <a:xfrm>
            <a:off x="5769864" y="3602736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kern="0" spc="-20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低维投影</a:t>
            </a:r>
            <a:endParaRPr lang="en-US" sz="1050" b="1" kern="0" spc="-20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1" name="Shape 27"/>
          <p:cNvSpPr/>
          <p:nvPr/>
        </p:nvSpPr>
        <p:spPr>
          <a:xfrm>
            <a:off x="6537960" y="1335024"/>
            <a:ext cx="5047488" cy="4370832"/>
          </a:xfrm>
          <a:prstGeom prst="roundRect">
            <a:avLst>
              <a:gd name="adj" fmla="val 1674"/>
            </a:avLst>
          </a:prstGeom>
          <a:solidFill>
            <a:srgbClr val="F4F7FB"/>
          </a:solidFill>
          <a:ln w="10160">
            <a:solidFill>
              <a:srgbClr val="2A69AC"/>
            </a:solidFill>
            <a:prstDash val="solid"/>
          </a:ln>
          <a:effectLst>
            <a:outerShdw blurRad="15240" dist="50800" dir="2700000" algn="bl" rotWithShape="0">
              <a:srgbClr val="7F8C99">
                <a:alpha val="7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803136" y="1572768"/>
            <a:ext cx="1005840" cy="274320"/>
          </a:xfrm>
          <a:prstGeom prst="roundRect">
            <a:avLst>
              <a:gd name="adj" fmla="val 20000"/>
            </a:avLst>
          </a:prstGeom>
          <a:solidFill>
            <a:srgbClr val="2A69AC"/>
          </a:solidFill>
          <a:ln w="12700">
            <a:solidFill>
              <a:srgbClr val="2A69AC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803136" y="157276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kern="0" spc="-200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内部路由</a:t>
            </a:r>
            <a:endParaRPr lang="en-US" sz="1100" b="1" kern="0" spc="-200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pic>
        <p:nvPicPr>
          <p:cNvPr id="34" name="Image 2" descr="/mnt/data/roboWis_unpack/ppt/media/image15.png"/>
          <p:cNvPicPr>
            <a:picLocks noChangeAspect="1"/>
          </p:cNvPicPr>
          <p:nvPr/>
        </p:nvPicPr>
        <p:blipFill>
          <a:blip r:embed="rId3"/>
          <a:srcRect l="50000" r="-58968"/>
          <a:stretch>
            <a:fillRect/>
          </a:stretch>
        </p:blipFill>
        <p:spPr>
          <a:xfrm>
            <a:off x="6821424" y="1993392"/>
            <a:ext cx="4480560" cy="2322576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6931152" y="4535424"/>
            <a:ext cx="4261104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kern="0" spc="-200" dirty="0">
                <a:solidFill>
                  <a:srgbClr val="0D2F5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相同阶段的路由模式出现持续重复与集中。</a:t>
            </a:r>
            <a:endParaRPr lang="en-US" sz="1400" b="1" kern="0" spc="-200" dirty="0">
              <a:solidFill>
                <a:srgbClr val="0D2F5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6" name="Text 31"/>
          <p:cNvSpPr txBox="1"/>
          <p:nvPr/>
        </p:nvSpPr>
        <p:spPr>
          <a:xfrm>
            <a:off x="6931152" y="4937760"/>
            <a:ext cx="4261104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60" kern="0" spc="-200" dirty="0">
                <a:solidFill>
                  <a:srgbClr val="5F6B78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它可能保留“策略是否仍在改变”的结构信息。</a:t>
            </a:r>
            <a:endParaRPr lang="en-US" sz="1260" kern="0" spc="-200" dirty="0">
              <a:solidFill>
                <a:srgbClr val="5F6B78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7" name="Shape 32"/>
          <p:cNvSpPr/>
          <p:nvPr/>
        </p:nvSpPr>
        <p:spPr>
          <a:xfrm>
            <a:off x="713232" y="5852160"/>
            <a:ext cx="10753344" cy="429768"/>
          </a:xfrm>
          <a:prstGeom prst="roundRect">
            <a:avLst>
              <a:gd name="adj" fmla="val 17021"/>
            </a:avLst>
          </a:prstGeom>
          <a:solidFill>
            <a:srgbClr val="0D2F56"/>
          </a:solidFill>
          <a:ln w="10160">
            <a:solidFill>
              <a:srgbClr val="0D2F56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896112" y="5916168"/>
            <a:ext cx="10351008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kern="0" spc="-200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核心观点：MoE 不是正确性的真值，而是一个候选传感器——用于读出动作尚未表达的内部策略状态。</a:t>
            </a:r>
            <a:endParaRPr lang="en-US" sz="1320" b="1" kern="0" spc="-200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oboWis_unpack/ppt/media/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735" y="128016"/>
            <a:ext cx="1010489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55648" y="155448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-20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ROBOT-WHISPER</a:t>
            </a:r>
            <a:endParaRPr lang="en-US" sz="1050" b="1" kern="0" spc="-20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406640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06640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kern="0" spc="-20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动机</a:t>
            </a:r>
            <a:endParaRPr lang="en-US" sz="950" kern="0" spc="-20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065008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65008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kern="0" spc="-20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950" kern="0" spc="-20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723376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23376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kern="0" spc="-20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方法</a:t>
            </a:r>
            <a:endParaRPr lang="en-US" sz="950" kern="0" spc="-20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381744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381744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-200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证据</a:t>
            </a:r>
            <a:endParaRPr lang="en-US" sz="950" b="1" kern="0" spc="-200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0040112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40112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kern="0" spc="-20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验证</a:t>
            </a:r>
            <a:endParaRPr lang="en-US" sz="950" kern="0" spc="-20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0698480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698480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kern="0" spc="-20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计划</a:t>
            </a:r>
            <a:endParaRPr lang="en-US" sz="950" kern="0" spc="-20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1384280" y="128016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kern="0" spc="-200" dirty="0">
                <a:solidFill>
                  <a:srgbClr val="173F73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1200" b="1" kern="0" spc="-200" dirty="0">
              <a:solidFill>
                <a:srgbClr val="173F73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11480" y="557784"/>
            <a:ext cx="11365992" cy="0"/>
          </a:xfrm>
          <a:prstGeom prst="line">
            <a:avLst/>
          </a:prstGeom>
          <a:noFill/>
          <a:ln w="11430">
            <a:solidFill>
              <a:srgbClr val="C7D6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5488" y="749808"/>
            <a:ext cx="50292" cy="402336"/>
          </a:xfrm>
          <a:prstGeom prst="rect">
            <a:avLst/>
          </a:prstGeom>
          <a:solidFill>
            <a:srgbClr val="2A69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694944"/>
            <a:ext cx="1060704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kern="0" spc="-20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报警之后怎么救：保留现场，生成替代策略，而不是盲目重启</a:t>
            </a:r>
            <a:endParaRPr lang="en-US" sz="2500" b="1" kern="0" spc="-20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11480" y="6583680"/>
            <a:ext cx="11365992" cy="0"/>
          </a:xfrm>
          <a:prstGeom prst="line">
            <a:avLst/>
          </a:prstGeom>
          <a:noFill/>
          <a:ln w="6985">
            <a:solidFill>
              <a:srgbClr val="C7D6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5488" y="6620256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kern="0" spc="-20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VLA internal routing · trap alarm · online recovery</a:t>
            </a:r>
            <a:endParaRPr lang="en-US" sz="850" kern="0" spc="-20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8869680" y="6620256"/>
            <a:ext cx="288036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kern="0" spc="-20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复旦大学 · Robot-Whisper</a:t>
            </a:r>
            <a:endParaRPr lang="en-US" sz="850" kern="0" spc="-20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94360" y="1481328"/>
            <a:ext cx="1828800" cy="1920240"/>
          </a:xfrm>
          <a:prstGeom prst="roundRect">
            <a:avLst>
              <a:gd name="adj" fmla="val 4000"/>
            </a:avLst>
          </a:prstGeom>
          <a:solidFill>
            <a:srgbClr val="FCE9E8"/>
          </a:solidFill>
          <a:ln w="10160">
            <a:solidFill>
              <a:srgbClr val="C84A45"/>
            </a:solidFill>
            <a:prstDash val="solid"/>
          </a:ln>
          <a:effectLst>
            <a:outerShdw blurRad="15240" dist="50800" dir="2700000" algn="bl" rotWithShape="0">
              <a:srgbClr val="7F8C99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58952" y="1682496"/>
            <a:ext cx="420624" cy="420624"/>
          </a:xfrm>
          <a:prstGeom prst="ellipse">
            <a:avLst/>
          </a:prstGeom>
          <a:solidFill>
            <a:srgbClr val="C84A45"/>
          </a:solidFill>
          <a:ln w="12700">
            <a:solidFill>
              <a:srgbClr val="C84A45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58952" y="168249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kern="0" spc="-200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50" b="1" kern="0" spc="-200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6" name="Text 23"/>
          <p:cNvSpPr txBox="1"/>
          <p:nvPr/>
        </p:nvSpPr>
        <p:spPr>
          <a:xfrm>
            <a:off x="1307592" y="1636776"/>
            <a:ext cx="95097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kern="0" spc="-200" dirty="0">
                <a:solidFill>
                  <a:srgbClr val="C84A45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报警点</a:t>
            </a:r>
            <a:endParaRPr lang="en-US" sz="1520" b="1" kern="0" spc="-200" dirty="0">
              <a:solidFill>
                <a:srgbClr val="C84A45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795528" y="2267712"/>
            <a:ext cx="1426464" cy="6949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40" kern="0" spc="-20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Sₜ 持续跌落</a:t>
            </a:r>
            <a:endParaRPr lang="en-US" sz="1240" kern="0" spc="-200" dirty="0">
              <a:latin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1240" kern="0" spc="-20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定位 onset</a:t>
            </a:r>
            <a:endParaRPr lang="en-US" sz="1240" kern="0" spc="-200" dirty="0">
              <a:latin typeface="Times New Roman" panose="0202060305040502030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2459736" y="2432304"/>
            <a:ext cx="228600" cy="0"/>
          </a:xfrm>
          <a:prstGeom prst="line">
            <a:avLst/>
          </a:prstGeom>
          <a:noFill/>
          <a:ln w="25400">
            <a:solidFill>
              <a:srgbClr val="C7D6E6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2761488" y="1481328"/>
            <a:ext cx="182880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173F73"/>
            </a:solidFill>
            <a:prstDash val="solid"/>
          </a:ln>
          <a:effectLst>
            <a:outerShdw blurRad="15240" dist="50800" dir="2700000" algn="bl" rotWithShape="0">
              <a:srgbClr val="7F8C99">
                <a:alpha val="6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926080" y="1682496"/>
            <a:ext cx="420624" cy="420624"/>
          </a:xfrm>
          <a:prstGeom prst="ellipse">
            <a:avLst/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926080" y="168249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kern="0" spc="-200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50" b="1" kern="0" spc="-200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3474720" y="1636776"/>
            <a:ext cx="95097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kern="0" spc="-200" dirty="0">
                <a:solidFill>
                  <a:srgbClr val="173F73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保存状态</a:t>
            </a:r>
            <a:endParaRPr lang="en-US" sz="1520" b="1" kern="0" spc="-200" dirty="0">
              <a:solidFill>
                <a:srgbClr val="173F73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3" name="Text 30"/>
          <p:cNvSpPr txBox="1"/>
          <p:nvPr/>
        </p:nvSpPr>
        <p:spPr>
          <a:xfrm>
            <a:off x="2962656" y="2267712"/>
            <a:ext cx="1426464" cy="6949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40" kern="0" spc="-20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checkpoint sₜ</a:t>
            </a:r>
            <a:endParaRPr lang="en-US" sz="1240" kern="0" spc="-200" dirty="0">
              <a:latin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1240" kern="0" spc="-20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保留可回滚现场</a:t>
            </a:r>
            <a:endParaRPr lang="en-US" sz="1240" kern="0" spc="-200" dirty="0">
              <a:latin typeface="Times New Roman" panose="02020603050405020304" charset="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4626864" y="2432304"/>
            <a:ext cx="256032" cy="0"/>
          </a:xfrm>
          <a:prstGeom prst="line">
            <a:avLst/>
          </a:prstGeom>
          <a:noFill/>
          <a:ln w="25400">
            <a:solidFill>
              <a:srgbClr val="C7D6E6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4956048" y="1481328"/>
            <a:ext cx="182880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2A69AC"/>
            </a:solidFill>
            <a:prstDash val="solid"/>
          </a:ln>
          <a:effectLst>
            <a:outerShdw blurRad="15240" dist="50800" dir="2700000" algn="bl" rotWithShape="0">
              <a:srgbClr val="7F8C99">
                <a:alpha val="6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120640" y="1682496"/>
            <a:ext cx="420624" cy="420624"/>
          </a:xfrm>
          <a:prstGeom prst="ellipse">
            <a:avLst/>
          </a:prstGeom>
          <a:solidFill>
            <a:srgbClr val="2A69AC"/>
          </a:solidFill>
          <a:ln w="12700">
            <a:solidFill>
              <a:srgbClr val="2A69AC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120640" y="168249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kern="0" spc="-200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50" b="1" kern="0" spc="-200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8" name="Text 35"/>
          <p:cNvSpPr txBox="1"/>
          <p:nvPr/>
        </p:nvSpPr>
        <p:spPr>
          <a:xfrm>
            <a:off x="5669280" y="1636776"/>
            <a:ext cx="95097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kern="0" spc="-200" dirty="0">
                <a:solidFill>
                  <a:srgbClr val="2A69AC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生成候选</a:t>
            </a:r>
            <a:endParaRPr lang="en-US" sz="1520" b="1" kern="0" spc="-200" dirty="0">
              <a:solidFill>
                <a:srgbClr val="2A69AC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9" name="Text 36"/>
          <p:cNvSpPr txBox="1"/>
          <p:nvPr/>
        </p:nvSpPr>
        <p:spPr>
          <a:xfrm>
            <a:off x="5157216" y="2267712"/>
            <a:ext cx="1426464" cy="6949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40" kern="0" spc="-20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不同 seed / 温度</a:t>
            </a:r>
            <a:endParaRPr lang="en-US" sz="1240" kern="0" spc="-200" dirty="0">
              <a:latin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1240" kern="0" spc="-20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或不同 chunk 长度</a:t>
            </a:r>
            <a:endParaRPr lang="en-US" sz="1240" kern="0" spc="-200" dirty="0">
              <a:latin typeface="Times New Roman" panose="02020603050405020304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6821424" y="2432304"/>
            <a:ext cx="301752" cy="0"/>
          </a:xfrm>
          <a:prstGeom prst="line">
            <a:avLst/>
          </a:prstGeom>
          <a:noFill/>
          <a:ln w="25400">
            <a:solidFill>
              <a:srgbClr val="C7D6E6"/>
            </a:solidFill>
            <a:prstDash val="solid"/>
            <a:tailEnd type="triangle"/>
          </a:ln>
        </p:spPr>
      </p:sp>
      <p:sp>
        <p:nvSpPr>
          <p:cNvPr id="41" name="Shape 38"/>
          <p:cNvSpPr/>
          <p:nvPr/>
        </p:nvSpPr>
        <p:spPr>
          <a:xfrm>
            <a:off x="7196328" y="1481328"/>
            <a:ext cx="182880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E8A33D"/>
            </a:solidFill>
            <a:prstDash val="solid"/>
          </a:ln>
          <a:effectLst>
            <a:outerShdw blurRad="15240" dist="50800" dir="2700000" algn="bl" rotWithShape="0">
              <a:srgbClr val="7F8C99">
                <a:alpha val="6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7360920" y="1682496"/>
            <a:ext cx="420624" cy="42062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360920" y="168249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kern="0" spc="-200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250" b="1" kern="0" spc="-200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44" name="Text 41"/>
          <p:cNvSpPr txBox="1"/>
          <p:nvPr/>
        </p:nvSpPr>
        <p:spPr>
          <a:xfrm>
            <a:off x="7909560" y="1636776"/>
            <a:ext cx="95097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kern="0" spc="-200" dirty="0">
                <a:solidFill>
                  <a:srgbClr val="E8A33D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选择 / 约束</a:t>
            </a:r>
            <a:endParaRPr lang="en-US" sz="1520" b="1" kern="0" spc="-200" dirty="0">
              <a:solidFill>
                <a:srgbClr val="E8A33D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45" name="Text 42"/>
          <p:cNvSpPr txBox="1"/>
          <p:nvPr/>
        </p:nvSpPr>
        <p:spPr>
          <a:xfrm>
            <a:off x="7397496" y="2267712"/>
            <a:ext cx="1426464" cy="6949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40" kern="0" spc="-20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避开 trapped basin</a:t>
            </a:r>
            <a:endParaRPr lang="en-US" sz="1240" kern="0" spc="-200" dirty="0">
              <a:latin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1240" kern="0" spc="-20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同时满足安全约束</a:t>
            </a:r>
            <a:endParaRPr lang="en-US" sz="1240" kern="0" spc="-200" dirty="0">
              <a:latin typeface="Times New Roman" panose="02020603050405020304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9061704" y="2432304"/>
            <a:ext cx="301752" cy="0"/>
          </a:xfrm>
          <a:prstGeom prst="line">
            <a:avLst/>
          </a:prstGeom>
          <a:noFill/>
          <a:ln w="25400">
            <a:solidFill>
              <a:srgbClr val="C7D6E6"/>
            </a:solidFill>
            <a:prstDash val="solid"/>
            <a:tailEnd type="triangle"/>
          </a:ln>
        </p:spPr>
      </p:sp>
      <p:sp>
        <p:nvSpPr>
          <p:cNvPr id="47" name="Shape 44"/>
          <p:cNvSpPr/>
          <p:nvPr/>
        </p:nvSpPr>
        <p:spPr>
          <a:xfrm>
            <a:off x="9436608" y="1481328"/>
            <a:ext cx="182880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0160">
            <a:solidFill>
              <a:srgbClr val="2E8C7D"/>
            </a:solidFill>
            <a:prstDash val="solid"/>
          </a:ln>
          <a:effectLst>
            <a:outerShdw blurRad="15240" dist="50800" dir="2700000" algn="bl" rotWithShape="0">
              <a:srgbClr val="7F8C99">
                <a:alpha val="6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01200" y="1682496"/>
            <a:ext cx="420624" cy="420624"/>
          </a:xfrm>
          <a:prstGeom prst="ellipse">
            <a:avLst/>
          </a:prstGeom>
          <a:solidFill>
            <a:srgbClr val="2E8C7D"/>
          </a:solidFill>
          <a:ln w="12700">
            <a:solidFill>
              <a:srgbClr val="2E8C7D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0" y="1682496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kern="0" spc="-200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250" b="1" kern="0" spc="-200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50" name="Text 47"/>
          <p:cNvSpPr txBox="1"/>
          <p:nvPr/>
        </p:nvSpPr>
        <p:spPr>
          <a:xfrm>
            <a:off x="10149840" y="1636776"/>
            <a:ext cx="950976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kern="0" spc="-200" dirty="0">
                <a:solidFill>
                  <a:srgbClr val="2E8C7D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短步执行</a:t>
            </a:r>
            <a:endParaRPr lang="en-US" sz="1520" b="1" kern="0" spc="-200" dirty="0">
              <a:solidFill>
                <a:srgbClr val="2E8C7D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51" name="Text 48"/>
          <p:cNvSpPr txBox="1"/>
          <p:nvPr/>
        </p:nvSpPr>
        <p:spPr>
          <a:xfrm>
            <a:off x="9637776" y="2267712"/>
            <a:ext cx="1426464" cy="6949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40" kern="0" spc="-20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只执行少量动作</a:t>
            </a:r>
            <a:endParaRPr lang="en-US" sz="1240" kern="0" spc="-200" dirty="0">
              <a:latin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1240" kern="0" spc="-20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再观测、再判断</a:t>
            </a:r>
            <a:endParaRPr lang="en-US" sz="1240" kern="0" spc="-200" dirty="0">
              <a:latin typeface="Times New Roman" panose="02020603050405020304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594360" y="3749040"/>
            <a:ext cx="5504688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0160">
            <a:solidFill>
              <a:srgbClr val="C7D6E6"/>
            </a:solidFill>
            <a:prstDash val="solid"/>
          </a:ln>
          <a:effectLst>
            <a:outerShdw blurRad="15240" dist="50800" dir="2700000" algn="bl" rotWithShape="0">
              <a:srgbClr val="7F8C99">
                <a:alpha val="7000"/>
              </a:srgbClr>
            </a:outerShdw>
          </a:effectLst>
        </p:spPr>
      </p:sp>
      <p:pic>
        <p:nvPicPr>
          <p:cNvPr id="53" name="Image 1" descr="/mnt/data/roboWis_unpack/ppt/media/image12.png"/>
          <p:cNvPicPr>
            <a:picLocks noChangeAspect="1"/>
          </p:cNvPicPr>
          <p:nvPr/>
        </p:nvPicPr>
        <p:blipFill>
          <a:blip r:embed="rId2"/>
          <a:srcRect t="2000" r="-33782" b="2000"/>
          <a:stretch>
            <a:fillRect/>
          </a:stretch>
        </p:blipFill>
        <p:spPr>
          <a:xfrm>
            <a:off x="749808" y="3895344"/>
            <a:ext cx="5193792" cy="1901952"/>
          </a:xfrm>
          <a:prstGeom prst="rect">
            <a:avLst/>
          </a:prstGeom>
        </p:spPr>
      </p:pic>
      <p:sp>
        <p:nvSpPr>
          <p:cNvPr id="54" name="Shape 50"/>
          <p:cNvSpPr/>
          <p:nvPr/>
        </p:nvSpPr>
        <p:spPr>
          <a:xfrm>
            <a:off x="6345936" y="3749040"/>
            <a:ext cx="5230368" cy="2212848"/>
          </a:xfrm>
          <a:prstGeom prst="roundRect">
            <a:avLst>
              <a:gd name="adj" fmla="val 3306"/>
            </a:avLst>
          </a:prstGeom>
          <a:solidFill>
            <a:srgbClr val="F4F7FB"/>
          </a:solidFill>
          <a:ln w="10160">
            <a:solidFill>
              <a:srgbClr val="F4F7FB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6601968" y="3950208"/>
            <a:ext cx="2633472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kern="0" spc="-200" dirty="0">
                <a:solidFill>
                  <a:srgbClr val="2A69AC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三种优先级不同的救回方式</a:t>
            </a:r>
            <a:endParaRPr lang="en-US" sz="1300" b="1" kern="0" spc="-200" dirty="0">
              <a:solidFill>
                <a:srgbClr val="2A69AC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56" name="Text 52"/>
          <p:cNvSpPr txBox="1"/>
          <p:nvPr/>
        </p:nvSpPr>
        <p:spPr>
          <a:xfrm>
            <a:off x="6601968" y="4407408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kern="0" spc="-200" dirty="0">
                <a:solidFill>
                  <a:srgbClr val="2A69AC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A · Resample</a:t>
            </a:r>
            <a:endParaRPr lang="en-US" sz="1220" b="1" kern="0" spc="-200" dirty="0">
              <a:solidFill>
                <a:srgbClr val="2A69AC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57" name="Text 53"/>
          <p:cNvSpPr txBox="1"/>
          <p:nvPr/>
        </p:nvSpPr>
        <p:spPr>
          <a:xfrm>
            <a:off x="7991856" y="440740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kern="0" spc="-20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换随机噪声 / 温度，寻找另一条可行 chunk。</a:t>
            </a:r>
            <a:endParaRPr lang="en-US" sz="1180" kern="0" spc="-20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58" name="Text 54"/>
          <p:cNvSpPr txBox="1"/>
          <p:nvPr/>
        </p:nvSpPr>
        <p:spPr>
          <a:xfrm>
            <a:off x="6601968" y="4882896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kern="0" spc="-200" dirty="0">
                <a:solidFill>
                  <a:srgbClr val="2E8C7D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B · Adaptive chunk</a:t>
            </a:r>
            <a:endParaRPr lang="en-US" sz="1220" b="1" kern="0" spc="-200" dirty="0">
              <a:solidFill>
                <a:srgbClr val="2E8C7D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59" name="Text 55"/>
          <p:cNvSpPr txBox="1"/>
          <p:nvPr/>
        </p:nvSpPr>
        <p:spPr>
          <a:xfrm>
            <a:off x="7991856" y="488289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kern="0" spc="-20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缩短执行长度，提高重新观测与重规划频率。</a:t>
            </a:r>
            <a:endParaRPr lang="en-US" sz="1180" kern="0" spc="-20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60" name="Text 56"/>
          <p:cNvSpPr txBox="1"/>
          <p:nvPr/>
        </p:nvSpPr>
        <p:spPr>
          <a:xfrm>
            <a:off x="6601968" y="5358384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20" b="1" kern="0" spc="-200" dirty="0">
                <a:solidFill>
                  <a:srgbClr val="E8A33D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C · Controlled diversity</a:t>
            </a:r>
            <a:endParaRPr lang="en-US" sz="1220" b="1" kern="0" spc="-200" dirty="0">
              <a:solidFill>
                <a:srgbClr val="E8A33D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61" name="Text 57"/>
          <p:cNvSpPr txBox="1"/>
          <p:nvPr/>
        </p:nvSpPr>
        <p:spPr>
          <a:xfrm>
            <a:off x="7991856" y="535838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kern="0" spc="-20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从候选中选择与 trapped 路由足够不同、但动作可行的方案。</a:t>
            </a:r>
            <a:endParaRPr lang="en-US" sz="1180" kern="0" spc="-20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62" name="Text 58"/>
          <p:cNvSpPr txBox="1"/>
          <p:nvPr/>
        </p:nvSpPr>
        <p:spPr>
          <a:xfrm>
            <a:off x="6601968" y="5623560"/>
            <a:ext cx="4462272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kern="0" spc="-200" dirty="0">
                <a:solidFill>
                  <a:srgbClr val="C84A45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“直接强行切换专家”仅作为机理消融，不作为默认在线策略。</a:t>
            </a:r>
            <a:endParaRPr lang="en-US" sz="1120" b="1" kern="0" spc="-200" dirty="0">
              <a:solidFill>
                <a:srgbClr val="C84A45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oboWis_unpack/ppt/media/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735" y="128016"/>
            <a:ext cx="1010489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55648" y="155448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ROBOT-WHISPER</a:t>
            </a:r>
            <a:endParaRPr lang="en-US" sz="1050" b="1" kern="0" spc="10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406640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06640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动机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065008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65008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723376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23376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方法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381744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381744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证据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0040112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40112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验证</a:t>
            </a:r>
            <a:endParaRPr lang="en-US" sz="95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0698480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698480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计划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1384280" y="128016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3F73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13</a:t>
            </a:r>
            <a:endParaRPr lang="en-US" sz="1200" b="1" dirty="0">
              <a:solidFill>
                <a:srgbClr val="173F73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11480" y="557784"/>
            <a:ext cx="11365992" cy="0"/>
          </a:xfrm>
          <a:prstGeom prst="line">
            <a:avLst/>
          </a:prstGeom>
          <a:noFill/>
          <a:ln w="11430">
            <a:solidFill>
              <a:srgbClr val="C7D6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5488" y="749808"/>
            <a:ext cx="50292" cy="402336"/>
          </a:xfrm>
          <a:prstGeom prst="rect">
            <a:avLst/>
          </a:prstGeom>
          <a:solidFill>
            <a:srgbClr val="2A69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694944"/>
            <a:ext cx="1060704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更远一步：能否在 Trap 发生前预测整条轨迹质量？</a:t>
            </a:r>
            <a:endParaRPr lang="en-US" sz="2500" b="1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11480" y="6583680"/>
            <a:ext cx="11365992" cy="0"/>
          </a:xfrm>
          <a:prstGeom prst="line">
            <a:avLst/>
          </a:prstGeom>
          <a:noFill/>
          <a:ln w="6985">
            <a:solidFill>
              <a:srgbClr val="C7D6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5488" y="6620256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VLA internal routing · trap alarm · online recovery</a:t>
            </a:r>
            <a:endParaRPr lang="en-US" sz="8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8869680" y="6620256"/>
            <a:ext cx="288036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复旦大学 · Robot-Whisper</a:t>
            </a:r>
            <a:endParaRPr lang="en-US" sz="8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658368" y="1280160"/>
            <a:ext cx="10789920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F6B78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当前信号更接近“事件发生后的即时诊断”；下一步要区分它与“更早的轨迹风险”。</a:t>
            </a:r>
            <a:endParaRPr lang="en-US" sz="1400" dirty="0">
              <a:solidFill>
                <a:srgbClr val="5F6B78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960120" y="2212848"/>
            <a:ext cx="10177272" cy="0"/>
          </a:xfrm>
          <a:prstGeom prst="line">
            <a:avLst/>
          </a:prstGeom>
          <a:noFill/>
          <a:ln w="25400">
            <a:solidFill>
              <a:srgbClr val="C7D6E6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1211580" y="2125980"/>
            <a:ext cx="173736" cy="173736"/>
          </a:xfrm>
          <a:prstGeom prst="ellipse">
            <a:avLst/>
          </a:prstGeom>
          <a:solidFill>
            <a:srgbClr val="FFFFFF"/>
          </a:solidFill>
          <a:ln w="6350">
            <a:solidFill>
              <a:srgbClr val="2A69A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58368" y="176479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A69AC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起点</a:t>
            </a:r>
            <a:endParaRPr lang="en-US" sz="1150" b="1" dirty="0">
              <a:solidFill>
                <a:srgbClr val="2A69AC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3643884" y="2125980"/>
            <a:ext cx="173736" cy="173736"/>
          </a:xfrm>
          <a:prstGeom prst="ellipse">
            <a:avLst/>
          </a:prstGeom>
          <a:solidFill>
            <a:srgbClr val="FFFFFF"/>
          </a:solidFill>
          <a:ln w="6350">
            <a:solidFill>
              <a:srgbClr val="397FC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90672" y="245059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97FC3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早期前缀 h</a:t>
            </a:r>
            <a:endParaRPr lang="en-US" sz="1150" b="1" dirty="0">
              <a:solidFill>
                <a:srgbClr val="397FC3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6478524" y="2125980"/>
            <a:ext cx="173736" cy="173736"/>
          </a:xfrm>
          <a:prstGeom prst="ellipse">
            <a:avLst/>
          </a:prstGeom>
          <a:solidFill>
            <a:srgbClr val="FFFFFF"/>
          </a:solidFill>
          <a:ln w="6350">
            <a:solidFill>
              <a:srgbClr val="E8A33D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925312" y="176479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A33D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潜在错误承诺</a:t>
            </a:r>
            <a:endParaRPr lang="en-US" sz="1150" b="1" dirty="0">
              <a:solidFill>
                <a:srgbClr val="E8A33D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8572500" y="2125980"/>
            <a:ext cx="173736" cy="173736"/>
          </a:xfrm>
          <a:prstGeom prst="ellipse">
            <a:avLst/>
          </a:prstGeom>
          <a:solidFill>
            <a:srgbClr val="FFFFFF"/>
          </a:solidFill>
          <a:ln w="6350">
            <a:solidFill>
              <a:srgbClr val="C84A4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019288" y="245059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84A45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Trap onset</a:t>
            </a:r>
            <a:endParaRPr lang="en-US" sz="1150" b="1" dirty="0">
              <a:solidFill>
                <a:srgbClr val="C84A45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10666476" y="2125980"/>
            <a:ext cx="173736" cy="173736"/>
          </a:xfrm>
          <a:prstGeom prst="ellipse">
            <a:avLst/>
          </a:prstGeom>
          <a:solidFill>
            <a:srgbClr val="FFFFFF"/>
          </a:solidFill>
          <a:ln w="6350">
            <a:solidFill>
              <a:srgbClr val="C84A4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10113264" y="176479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84A45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超时 / 失败</a:t>
            </a:r>
            <a:endParaRPr lang="en-US" sz="1150" b="1" dirty="0">
              <a:solidFill>
                <a:srgbClr val="C84A45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658368" y="3054096"/>
            <a:ext cx="343814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0160">
            <a:solidFill>
              <a:srgbClr val="C7D6E6"/>
            </a:solidFill>
            <a:prstDash val="solid"/>
          </a:ln>
          <a:effectLst>
            <a:outerShdw blurRad="15240" dist="50800" dir="2700000" algn="bl" rotWithShape="0">
              <a:srgbClr val="7F8C99">
                <a:alpha val="6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896112" y="3273552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69AC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数据设计</a:t>
            </a:r>
            <a:endParaRPr lang="en-US" sz="1300" b="1" dirty="0">
              <a:solidFill>
                <a:srgbClr val="2A69AC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7" name="Text 34"/>
          <p:cNvSpPr txBox="1"/>
          <p:nvPr/>
        </p:nvSpPr>
        <p:spPr>
          <a:xfrm>
            <a:off x="896112" y="3675888"/>
            <a:ext cx="2779776" cy="1344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同一任务、同一初始状态，运行多 seed rollout：</a:t>
            </a:r>
            <a:endParaRPr lang="en-US" sz="136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endParaRPr lang="en-US" sz="136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sz="136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• 一部分成功</a:t>
            </a:r>
            <a:endParaRPr lang="en-US" sz="136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sz="136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• 一部分后期陷入 Trap</a:t>
            </a:r>
            <a:endParaRPr lang="en-US" sz="136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endParaRPr lang="en-US" sz="136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sz="136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只使用前 h 个 chunk 做预测。</a:t>
            </a:r>
            <a:endParaRPr lang="en-US" sz="136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4370832" y="3054096"/>
            <a:ext cx="3438144" cy="2331720"/>
          </a:xfrm>
          <a:prstGeom prst="roundRect">
            <a:avLst>
              <a:gd name="adj" fmla="val 3137"/>
            </a:avLst>
          </a:prstGeom>
          <a:solidFill>
            <a:srgbClr val="EAF2FA"/>
          </a:solidFill>
          <a:ln w="10160">
            <a:solidFill>
              <a:srgbClr val="EAF2F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617720" y="3273552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A69AC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早期特征</a:t>
            </a:r>
            <a:endParaRPr lang="en-US" sz="1300" b="1" dirty="0">
              <a:solidFill>
                <a:srgbClr val="2A69AC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40" name="Text 37"/>
          <p:cNvSpPr txBox="1"/>
          <p:nvPr/>
        </p:nvSpPr>
        <p:spPr>
          <a:xfrm>
            <a:off x="4617720" y="3675888"/>
            <a:ext cx="2761488" cy="1344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• routing PCA / 变化统计</a:t>
            </a:r>
            <a:endParaRPr lang="en-US" sz="132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sz="132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• 跨 seed 路由一致性</a:t>
            </a:r>
            <a:endParaRPr lang="en-US" sz="132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sz="132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• 路由熵与集中度</a:t>
            </a:r>
            <a:endParaRPr lang="en-US" sz="132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sz="132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• 早期动作与任务进展</a:t>
            </a:r>
            <a:endParaRPr lang="en-US" sz="132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endParaRPr lang="en-US" sz="132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sz="132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先用线性 / Logistic 基线，再尝试时序模型。</a:t>
            </a:r>
            <a:endParaRPr lang="en-US" sz="132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8083296" y="3054096"/>
            <a:ext cx="3456432" cy="2331720"/>
          </a:xfrm>
          <a:prstGeom prst="roundRect">
            <a:avLst>
              <a:gd name="adj" fmla="val 3137"/>
            </a:avLst>
          </a:prstGeom>
          <a:solidFill>
            <a:srgbClr val="FFF4DF"/>
          </a:solidFill>
          <a:ln w="10160">
            <a:solidFill>
              <a:srgbClr val="FFF4D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339328" y="3273552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A33D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关键判据</a:t>
            </a:r>
            <a:endParaRPr lang="en-US" sz="1300" b="1" dirty="0">
              <a:solidFill>
                <a:srgbClr val="E8A33D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43" name="Text 40"/>
          <p:cNvSpPr txBox="1"/>
          <p:nvPr/>
        </p:nvSpPr>
        <p:spPr>
          <a:xfrm>
            <a:off x="8339328" y="3675888"/>
            <a:ext cx="2761488" cy="13441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• AUC / Brier / calibration</a:t>
            </a:r>
            <a:endParaRPr lang="en-US" sz="132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sz="132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• 提前量 lead time</a:t>
            </a:r>
            <a:endParaRPr lang="en-US" sz="132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sz="132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• 跨任务泛化</a:t>
            </a:r>
            <a:endParaRPr lang="en-US" sz="132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sz="132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• 与 action-prefix 基线比较</a:t>
            </a:r>
            <a:endParaRPr lang="en-US" sz="132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endParaRPr lang="en-US" sz="132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sz="132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若只在 onset 附近有效，则它是“诊断信号”，不是“早期命运信号”。</a:t>
            </a:r>
            <a:endParaRPr lang="en-US" sz="132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2267712" y="5715000"/>
            <a:ext cx="7635240" cy="411480"/>
          </a:xfrm>
          <a:prstGeom prst="roundRect">
            <a:avLst>
              <a:gd name="adj" fmla="val 20000"/>
            </a:avLst>
          </a:prstGeom>
          <a:solidFill>
            <a:srgbClr val="0D2F56"/>
          </a:solidFill>
          <a:ln w="8890">
            <a:solidFill>
              <a:srgbClr val="0D2F56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2267712" y="5715000"/>
            <a:ext cx="7635240" cy="4114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必须按 task / initial state 分组划分，避免同一轨迹家族泄漏到训练与测试。</a:t>
            </a:r>
            <a:endParaRPr lang="en-US" sz="122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oboWis_unpack/ppt/media/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735" y="128016"/>
            <a:ext cx="1010489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55648" y="155448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ROBOT-WHISPER</a:t>
            </a:r>
            <a:endParaRPr lang="en-US" sz="1050" b="1" kern="0" spc="10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406640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06640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动机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065008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65008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723376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23376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方法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381744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381744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证据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0040112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40112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验证</a:t>
            </a:r>
            <a:endParaRPr lang="en-US" sz="95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0698480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698480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计划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1384280" y="128016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3F73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14</a:t>
            </a:r>
            <a:endParaRPr lang="en-US" sz="1200" b="1" dirty="0">
              <a:solidFill>
                <a:srgbClr val="173F73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11480" y="557784"/>
            <a:ext cx="11365992" cy="0"/>
          </a:xfrm>
          <a:prstGeom prst="line">
            <a:avLst/>
          </a:prstGeom>
          <a:noFill/>
          <a:ln w="11430">
            <a:solidFill>
              <a:srgbClr val="C7D6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5488" y="749808"/>
            <a:ext cx="50292" cy="402336"/>
          </a:xfrm>
          <a:prstGeom prst="rect">
            <a:avLst/>
          </a:prstGeom>
          <a:solidFill>
            <a:srgbClr val="2A69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694944"/>
            <a:ext cx="1060704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实验设计：把“能看见”与“能救回”分开验证</a:t>
            </a:r>
            <a:endParaRPr lang="en-US" sz="2500" b="1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11480" y="6583680"/>
            <a:ext cx="11365992" cy="0"/>
          </a:xfrm>
          <a:prstGeom prst="line">
            <a:avLst/>
          </a:prstGeom>
          <a:noFill/>
          <a:ln w="6985">
            <a:solidFill>
              <a:srgbClr val="C7D6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5488" y="6620256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VLA internal routing · trap alarm · online recovery</a:t>
            </a:r>
            <a:endParaRPr lang="en-US" sz="8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8869680" y="6620256"/>
            <a:ext cx="288036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复旦大学 · Robot-Whisper</a:t>
            </a:r>
            <a:endParaRPr lang="en-US" sz="8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658368" y="1225296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5F6B78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四层证据链：机制相关性 → 在线检测 → 闭环救回 → 早期预测</a:t>
            </a:r>
            <a:endParaRPr lang="en-US" sz="1400" dirty="0">
              <a:solidFill>
                <a:srgbClr val="5F6B78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566928" y="1700784"/>
            <a:ext cx="1572768" cy="475488"/>
          </a:xfrm>
          <a:prstGeom prst="rect">
            <a:avLst/>
          </a:prstGeom>
          <a:solidFill>
            <a:srgbClr val="0D2F5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66928" y="1700784"/>
            <a:ext cx="1572768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125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2139696" y="1700784"/>
            <a:ext cx="2788920" cy="475488"/>
          </a:xfrm>
          <a:prstGeom prst="rect">
            <a:avLst/>
          </a:prstGeom>
          <a:solidFill>
            <a:srgbClr val="0D2F5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139696" y="1700784"/>
            <a:ext cx="278892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数据 / 对照</a:t>
            </a:r>
            <a:endParaRPr lang="en-US" sz="125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4928616" y="1700784"/>
            <a:ext cx="2148840" cy="475488"/>
          </a:xfrm>
          <a:prstGeom prst="rect">
            <a:avLst/>
          </a:prstGeom>
          <a:solidFill>
            <a:srgbClr val="0D2F5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928616" y="1700784"/>
            <a:ext cx="214884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主要指标</a:t>
            </a:r>
            <a:endParaRPr lang="en-US" sz="125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7077456" y="1700784"/>
            <a:ext cx="2240280" cy="475488"/>
          </a:xfrm>
          <a:prstGeom prst="rect">
            <a:avLst/>
          </a:prstGeom>
          <a:solidFill>
            <a:srgbClr val="0D2F5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077456" y="1700784"/>
            <a:ext cx="224028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基线</a:t>
            </a:r>
            <a:endParaRPr lang="en-US" sz="125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9317736" y="1700784"/>
            <a:ext cx="2084832" cy="475488"/>
          </a:xfrm>
          <a:prstGeom prst="rect">
            <a:avLst/>
          </a:prstGeom>
          <a:solidFill>
            <a:srgbClr val="0D2F56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317736" y="1700784"/>
            <a:ext cx="2084832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判定重点</a:t>
            </a:r>
            <a:endParaRPr lang="en-US" sz="125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566928" y="2176272"/>
            <a:ext cx="1572768" cy="832104"/>
          </a:xfrm>
          <a:prstGeom prst="rect">
            <a:avLst/>
          </a:prstGeom>
          <a:solidFill>
            <a:srgbClr val="F4F7FB"/>
          </a:solidFill>
          <a:ln w="7620">
            <a:solidFill>
              <a:srgbClr val="C7D6E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58368" y="2249424"/>
            <a:ext cx="1389888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D2F5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机制</a:t>
            </a:r>
            <a:endParaRPr lang="en-US" sz="1320" b="1" dirty="0">
              <a:solidFill>
                <a:srgbClr val="0D2F5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2139696" y="2176272"/>
            <a:ext cx="2788920" cy="832104"/>
          </a:xfrm>
          <a:prstGeom prst="rect">
            <a:avLst/>
          </a:prstGeom>
          <a:solidFill>
            <a:srgbClr val="F4F7FB"/>
          </a:solidFill>
          <a:ln w="7620">
            <a:solidFill>
              <a:srgbClr val="C7D6E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2231136" y="2249424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成功 vs Trap 对齐轨迹；分层 / 分 token 消融</a:t>
            </a:r>
            <a:endParaRPr lang="en-US" sz="118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4928616" y="2176272"/>
            <a:ext cx="2148840" cy="832104"/>
          </a:xfrm>
          <a:prstGeom prst="rect">
            <a:avLst/>
          </a:prstGeom>
          <a:solidFill>
            <a:srgbClr val="F4F7FB"/>
          </a:solidFill>
          <a:ln w="7620">
            <a:solidFill>
              <a:srgbClr val="C7D6E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020056" y="2249424"/>
            <a:ext cx="196596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effect size</a:t>
            </a:r>
            <a:endParaRPr lang="en-US" sz="118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sz="118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onset timing</a:t>
            </a:r>
            <a:endParaRPr lang="en-US" sz="118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7077456" y="2176272"/>
            <a:ext cx="2240280" cy="832104"/>
          </a:xfrm>
          <a:prstGeom prst="rect">
            <a:avLst/>
          </a:prstGeom>
          <a:solidFill>
            <a:srgbClr val="F4F7FB"/>
          </a:solidFill>
          <a:ln w="7620">
            <a:solidFill>
              <a:srgbClr val="C7D6E6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168896" y="2249424"/>
            <a:ext cx="205740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action / pose</a:t>
            </a:r>
            <a:endParaRPr lang="en-US" sz="118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sz="118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progress</a:t>
            </a:r>
            <a:endParaRPr lang="en-US" sz="118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9317736" y="2176272"/>
            <a:ext cx="2084832" cy="832104"/>
          </a:xfrm>
          <a:prstGeom prst="rect">
            <a:avLst/>
          </a:prstGeom>
          <a:solidFill>
            <a:srgbClr val="F4F7FB"/>
          </a:solidFill>
          <a:ln w="7620">
            <a:solidFill>
              <a:srgbClr val="C7D6E6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409176" y="2249424"/>
            <a:ext cx="1901952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路由变化是否独立于外部信号</a:t>
            </a:r>
            <a:endParaRPr lang="en-US" sz="118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566928" y="3008376"/>
            <a:ext cx="1572768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C7D6E6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58368" y="3081528"/>
            <a:ext cx="1389888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D2F5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检测</a:t>
            </a:r>
            <a:endParaRPr lang="en-US" sz="1320" b="1" dirty="0">
              <a:solidFill>
                <a:srgbClr val="0D2F5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2139696" y="3008376"/>
            <a:ext cx="2788920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C7D6E6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2231136" y="3081528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留出任务在线回放；不同 trap 类型</a:t>
            </a:r>
            <a:endParaRPr lang="en-US" sz="118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4928616" y="3008376"/>
            <a:ext cx="2148840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C7D6E6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020056" y="3081528"/>
            <a:ext cx="196596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AUROC / AUPRC</a:t>
            </a:r>
            <a:endParaRPr lang="en-US" sz="118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sz="118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F1 / lead time</a:t>
            </a:r>
            <a:endParaRPr lang="en-US" sz="118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7077456" y="3008376"/>
            <a:ext cx="2240280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C7D6E6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7168896" y="3081528"/>
            <a:ext cx="205740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阈值进度</a:t>
            </a:r>
            <a:endParaRPr lang="en-US" sz="118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sz="118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action-only</a:t>
            </a:r>
            <a:endParaRPr lang="en-US" sz="118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2" name="Shape 49"/>
          <p:cNvSpPr/>
          <p:nvPr/>
        </p:nvSpPr>
        <p:spPr>
          <a:xfrm>
            <a:off x="9317736" y="3008376"/>
            <a:ext cx="2084832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C7D6E6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9409176" y="3081528"/>
            <a:ext cx="1901952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能否提前且低误报地报警</a:t>
            </a:r>
            <a:endParaRPr lang="en-US" sz="118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566928" y="3840480"/>
            <a:ext cx="1572768" cy="832104"/>
          </a:xfrm>
          <a:prstGeom prst="rect">
            <a:avLst/>
          </a:prstGeom>
          <a:solidFill>
            <a:srgbClr val="F4F7FB"/>
          </a:solidFill>
          <a:ln w="7620">
            <a:solidFill>
              <a:srgbClr val="C7D6E6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58368" y="3913632"/>
            <a:ext cx="1389888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D2F5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救回</a:t>
            </a:r>
            <a:endParaRPr lang="en-US" sz="1320" b="1" dirty="0">
              <a:solidFill>
                <a:srgbClr val="0D2F5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2139696" y="3840480"/>
            <a:ext cx="2788920" cy="832104"/>
          </a:xfrm>
          <a:prstGeom prst="rect">
            <a:avLst/>
          </a:prstGeom>
          <a:solidFill>
            <a:srgbClr val="F4F7FB"/>
          </a:solidFill>
          <a:ln w="7620">
            <a:solidFill>
              <a:srgbClr val="C7D6E6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2231136" y="3913632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同一 checkpoint 的配对试验</a:t>
            </a:r>
            <a:endParaRPr lang="en-US" sz="118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4928616" y="3840480"/>
            <a:ext cx="2148840" cy="832104"/>
          </a:xfrm>
          <a:prstGeom prst="rect">
            <a:avLst/>
          </a:prstGeom>
          <a:solidFill>
            <a:srgbClr val="F4F7FB"/>
          </a:solidFill>
          <a:ln w="7620">
            <a:solidFill>
              <a:srgbClr val="C7D6E6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5020056" y="3913632"/>
            <a:ext cx="196596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recovery rate</a:t>
            </a:r>
            <a:endParaRPr lang="en-US" sz="118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sz="118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success / cost</a:t>
            </a:r>
            <a:endParaRPr lang="en-US" sz="118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7077456" y="3840480"/>
            <a:ext cx="2240280" cy="832104"/>
          </a:xfrm>
          <a:prstGeom prst="rect">
            <a:avLst/>
          </a:prstGeom>
          <a:solidFill>
            <a:srgbClr val="F4F7FB"/>
          </a:solidFill>
          <a:ln w="7620">
            <a:solidFill>
              <a:srgbClr val="C7D6E6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7168896" y="3913632"/>
            <a:ext cx="205740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无干预</a:t>
            </a:r>
            <a:endParaRPr lang="en-US" sz="118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sz="118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随机 resample</a:t>
            </a:r>
            <a:endParaRPr lang="en-US" sz="118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2" name="Shape 59"/>
          <p:cNvSpPr/>
          <p:nvPr/>
        </p:nvSpPr>
        <p:spPr>
          <a:xfrm>
            <a:off x="9317736" y="3840480"/>
            <a:ext cx="2084832" cy="832104"/>
          </a:xfrm>
          <a:prstGeom prst="rect">
            <a:avLst/>
          </a:prstGeom>
          <a:solidFill>
            <a:srgbClr val="F4F7FB"/>
          </a:solidFill>
          <a:ln w="7620">
            <a:solidFill>
              <a:srgbClr val="C7D6E6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9409176" y="3913632"/>
            <a:ext cx="1901952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提升成功率且不过度增加风险</a:t>
            </a:r>
            <a:endParaRPr lang="en-US" sz="118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566928" y="4672584"/>
            <a:ext cx="1572768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C7D6E6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658368" y="4745736"/>
            <a:ext cx="1389888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0D2F5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早期预测</a:t>
            </a:r>
            <a:endParaRPr lang="en-US" sz="1320" b="1" dirty="0">
              <a:solidFill>
                <a:srgbClr val="0D2F5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2139696" y="4672584"/>
            <a:ext cx="2788920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C7D6E6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2231136" y="4745736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同起点多 seed；按 task 分组</a:t>
            </a:r>
            <a:endParaRPr lang="en-US" sz="118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68" name="Shape 65"/>
          <p:cNvSpPr/>
          <p:nvPr/>
        </p:nvSpPr>
        <p:spPr>
          <a:xfrm>
            <a:off x="4928616" y="4672584"/>
            <a:ext cx="2148840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C7D6E6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5020056" y="4745736"/>
            <a:ext cx="196596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AUC / Brier</a:t>
            </a:r>
            <a:endParaRPr lang="en-US" sz="118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sz="118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跨任务下降</a:t>
            </a:r>
            <a:endParaRPr lang="en-US" sz="118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0" name="Shape 67"/>
          <p:cNvSpPr/>
          <p:nvPr/>
        </p:nvSpPr>
        <p:spPr>
          <a:xfrm>
            <a:off x="7077456" y="4672584"/>
            <a:ext cx="2240280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C7D6E6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7168896" y="4745736"/>
            <a:ext cx="2057400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random</a:t>
            </a:r>
            <a:endParaRPr lang="en-US" sz="118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sz="118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action-prefix</a:t>
            </a:r>
            <a:endParaRPr lang="en-US" sz="118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2" name="Shape 69"/>
          <p:cNvSpPr/>
          <p:nvPr/>
        </p:nvSpPr>
        <p:spPr>
          <a:xfrm>
            <a:off x="9317736" y="4672584"/>
            <a:ext cx="2084832" cy="832104"/>
          </a:xfrm>
          <a:prstGeom prst="rect">
            <a:avLst/>
          </a:prstGeom>
          <a:solidFill>
            <a:srgbClr val="FFFFFF"/>
          </a:solidFill>
          <a:ln w="7620">
            <a:solidFill>
              <a:srgbClr val="C7D6E6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9409176" y="4745736"/>
            <a:ext cx="1901952" cy="685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是否真有 onset 之前的风险信号</a:t>
            </a:r>
            <a:endParaRPr lang="en-US" sz="118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74" name="Shape 71"/>
          <p:cNvSpPr/>
          <p:nvPr/>
        </p:nvSpPr>
        <p:spPr>
          <a:xfrm>
            <a:off x="658368" y="5596128"/>
            <a:ext cx="10863072" cy="603504"/>
          </a:xfrm>
          <a:prstGeom prst="roundRect">
            <a:avLst>
              <a:gd name="adj" fmla="val 12121"/>
            </a:avLst>
          </a:prstGeom>
          <a:solidFill>
            <a:srgbClr val="FCE9E8"/>
          </a:solidFill>
          <a:ln w="10160">
            <a:solidFill>
              <a:srgbClr val="FCE9E8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868680" y="5769864"/>
            <a:ext cx="960120" cy="23774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C84A45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关键控制</a:t>
            </a:r>
            <a:endParaRPr lang="en-US" sz="1250" b="1" dirty="0">
              <a:solidFill>
                <a:srgbClr val="C84A45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76" name="Text 73"/>
          <p:cNvSpPr txBox="1"/>
          <p:nvPr/>
        </p:nvSpPr>
        <p:spPr>
          <a:xfrm>
            <a:off x="1810512" y="5660136"/>
            <a:ext cx="9308592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同任务 / 同状态配对 · 遮蔽未来信息 · timeout 与其他失败分开 · 静态/塌缩路由先筛除 · 报告成本与安全副作用</a:t>
            </a:r>
            <a:endParaRPr lang="en-US" sz="124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oboWis_unpack/ppt/media/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735" y="128016"/>
            <a:ext cx="1010489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55648" y="155448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ROBOT-WHISPER</a:t>
            </a:r>
            <a:endParaRPr lang="en-US" sz="1050" b="1" kern="0" spc="10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406640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06640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动机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065008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65008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723376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23376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方法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381744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381744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证据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0040112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40112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验证</a:t>
            </a:r>
            <a:endParaRPr lang="en-US" sz="95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0698480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698480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计划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1384280" y="128016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3F73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15</a:t>
            </a:r>
            <a:endParaRPr lang="en-US" sz="1200" b="1" dirty="0">
              <a:solidFill>
                <a:srgbClr val="173F73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11480" y="557784"/>
            <a:ext cx="11365992" cy="0"/>
          </a:xfrm>
          <a:prstGeom prst="line">
            <a:avLst/>
          </a:prstGeom>
          <a:noFill/>
          <a:ln w="11430">
            <a:solidFill>
              <a:srgbClr val="C7D6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5488" y="749808"/>
            <a:ext cx="50292" cy="402336"/>
          </a:xfrm>
          <a:prstGeom prst="rect">
            <a:avLst/>
          </a:prstGeom>
          <a:solidFill>
            <a:srgbClr val="2A69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694944"/>
            <a:ext cx="1060704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可行性：数据、模型与原型已具备；真正难点在因果与泛化</a:t>
            </a:r>
            <a:endParaRPr lang="en-US" sz="2500" b="1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11480" y="6583680"/>
            <a:ext cx="11365992" cy="0"/>
          </a:xfrm>
          <a:prstGeom prst="line">
            <a:avLst/>
          </a:prstGeom>
          <a:noFill/>
          <a:ln w="6985">
            <a:solidFill>
              <a:srgbClr val="C7D6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5488" y="6620256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VLA internal routing · trap alarm · online recovery</a:t>
            </a:r>
            <a:endParaRPr lang="en-US" sz="8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8869680" y="6620256"/>
            <a:ext cx="288036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复旦大学 · Robot-Whisper</a:t>
            </a:r>
            <a:endParaRPr lang="en-US" sz="8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94360" y="1481328"/>
            <a:ext cx="3163824" cy="4233672"/>
          </a:xfrm>
          <a:prstGeom prst="roundRect">
            <a:avLst>
              <a:gd name="adj" fmla="val 2312"/>
            </a:avLst>
          </a:prstGeom>
          <a:solidFill>
            <a:srgbClr val="EAF2FA"/>
          </a:solidFill>
          <a:ln w="10160">
            <a:solidFill>
              <a:srgbClr val="EAF2FA"/>
            </a:solidFill>
            <a:prstDash val="solid"/>
          </a:ln>
          <a:effectLst>
            <a:outerShdw blurRad="15240" dist="50800" dir="2700000" algn="bl" rotWithShape="0">
              <a:srgbClr val="7F8C99">
                <a:alpha val="7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850392" y="1728216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A69AC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已经具备</a:t>
            </a:r>
            <a:endParaRPr lang="en-US" sz="2000" b="1" dirty="0">
              <a:solidFill>
                <a:srgbClr val="2A69AC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886968" y="2414016"/>
            <a:ext cx="109728" cy="109728"/>
          </a:xfrm>
          <a:prstGeom prst="ellipse">
            <a:avLst/>
          </a:prstGeom>
          <a:solidFill>
            <a:srgbClr val="2A69AC"/>
          </a:solidFill>
          <a:ln w="6350">
            <a:solidFill>
              <a:srgbClr val="2A69A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61288" y="2331720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HiMoE-VLA 路由 hook 与日志</a:t>
            </a:r>
            <a:endParaRPr lang="en-US" sz="132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886968" y="3118104"/>
            <a:ext cx="109728" cy="109728"/>
          </a:xfrm>
          <a:prstGeom prst="ellipse">
            <a:avLst/>
          </a:prstGeom>
          <a:solidFill>
            <a:srgbClr val="2A69AC"/>
          </a:solidFill>
          <a:ln w="6350">
            <a:solidFill>
              <a:srgbClr val="2A69A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161288" y="3035808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LIBERO 保存状态与多 rollout</a:t>
            </a:r>
            <a:endParaRPr lang="en-US" sz="132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886968" y="3822192"/>
            <a:ext cx="109728" cy="109728"/>
          </a:xfrm>
          <a:prstGeom prst="ellipse">
            <a:avLst/>
          </a:prstGeom>
          <a:solidFill>
            <a:srgbClr val="2A69AC"/>
          </a:solidFill>
          <a:ln w="6350">
            <a:solidFill>
              <a:srgbClr val="2A69AC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161288" y="3739896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chunk 对齐、热图与窗口分数原型</a:t>
            </a:r>
            <a:endParaRPr lang="en-US" sz="132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886968" y="4526280"/>
            <a:ext cx="109728" cy="109728"/>
          </a:xfrm>
          <a:prstGeom prst="ellipse">
            <a:avLst/>
          </a:prstGeom>
          <a:solidFill>
            <a:srgbClr val="2A69AC"/>
          </a:solidFill>
          <a:ln w="6350">
            <a:solidFill>
              <a:srgbClr val="2A69A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161288" y="4443984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成功 / timeout / 其他失败样本</a:t>
            </a:r>
            <a:endParaRPr lang="en-US" sz="132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4160520" y="1481328"/>
            <a:ext cx="3163824" cy="4233672"/>
          </a:xfrm>
          <a:prstGeom prst="roundRect">
            <a:avLst>
              <a:gd name="adj" fmla="val 2312"/>
            </a:avLst>
          </a:prstGeom>
          <a:solidFill>
            <a:srgbClr val="E6F4F1"/>
          </a:solidFill>
          <a:ln w="10160">
            <a:solidFill>
              <a:srgbClr val="E6F4F1"/>
            </a:solidFill>
            <a:prstDash val="solid"/>
          </a:ln>
          <a:effectLst>
            <a:outerShdw blurRad="15240" dist="50800" dir="2700000" algn="bl" rotWithShape="0">
              <a:srgbClr val="7F8C99">
                <a:alpha val="7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4416552" y="1728216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E8C7D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当前证据</a:t>
            </a:r>
            <a:endParaRPr lang="en-US" sz="2000" b="1" dirty="0">
              <a:solidFill>
                <a:srgbClr val="2E8C7D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453128" y="2414016"/>
            <a:ext cx="109728" cy="109728"/>
          </a:xfrm>
          <a:prstGeom prst="ellipse">
            <a:avLst/>
          </a:prstGeom>
          <a:solidFill>
            <a:srgbClr val="2E8C7D"/>
          </a:solidFill>
          <a:ln w="6350">
            <a:solidFill>
              <a:srgbClr val="2E8C7D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727448" y="2331720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失败轨迹尾部存在低变化模式</a:t>
            </a:r>
            <a:endParaRPr lang="en-US" sz="132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4453128" y="3118104"/>
            <a:ext cx="109728" cy="109728"/>
          </a:xfrm>
          <a:prstGeom prst="ellipse">
            <a:avLst/>
          </a:prstGeom>
          <a:solidFill>
            <a:srgbClr val="2E8C7D"/>
          </a:solidFill>
          <a:ln w="6350">
            <a:solidFill>
              <a:srgbClr val="2E8C7D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727448" y="3035808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成功与 Trap 分支路由结构不同</a:t>
            </a:r>
            <a:endParaRPr lang="en-US" sz="132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4453128" y="3822192"/>
            <a:ext cx="109728" cy="109728"/>
          </a:xfrm>
          <a:prstGeom prst="ellipse">
            <a:avLst/>
          </a:prstGeom>
          <a:solidFill>
            <a:srgbClr val="2E8C7D"/>
          </a:solidFill>
          <a:ln w="6350">
            <a:solidFill>
              <a:srgbClr val="2E8C7D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727448" y="3739896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可在 chunk 级持续更新信号</a:t>
            </a:r>
            <a:endParaRPr lang="en-US" sz="132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4453128" y="4526280"/>
            <a:ext cx="109728" cy="109728"/>
          </a:xfrm>
          <a:prstGeom prst="ellipse">
            <a:avLst/>
          </a:prstGeom>
          <a:solidFill>
            <a:srgbClr val="2E8C7D"/>
          </a:solidFill>
          <a:ln w="6350">
            <a:solidFill>
              <a:srgbClr val="2E8C7D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727448" y="4443984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已形成“报警 → rollout”原型链路</a:t>
            </a:r>
            <a:endParaRPr lang="en-US" sz="132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7726680" y="1481328"/>
            <a:ext cx="3163824" cy="4233672"/>
          </a:xfrm>
          <a:prstGeom prst="roundRect">
            <a:avLst>
              <a:gd name="adj" fmla="val 2312"/>
            </a:avLst>
          </a:prstGeom>
          <a:solidFill>
            <a:srgbClr val="FCE9E8"/>
          </a:solidFill>
          <a:ln w="10160">
            <a:solidFill>
              <a:srgbClr val="FCE9E8"/>
            </a:solidFill>
            <a:prstDash val="solid"/>
          </a:ln>
          <a:effectLst>
            <a:outerShdw blurRad="15240" dist="50800" dir="2700000" algn="bl" rotWithShape="0">
              <a:srgbClr val="7F8C99">
                <a:alpha val="7000"/>
              </a:srgbClr>
            </a:outerShdw>
          </a:effectLst>
        </p:spPr>
      </p:sp>
      <p:sp>
        <p:nvSpPr>
          <p:cNvPr id="44" name="Text 41"/>
          <p:cNvSpPr txBox="1"/>
          <p:nvPr/>
        </p:nvSpPr>
        <p:spPr>
          <a:xfrm>
            <a:off x="7982712" y="1728216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C84A45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风险与化解</a:t>
            </a:r>
            <a:endParaRPr lang="en-US" sz="2000" b="1" dirty="0">
              <a:solidFill>
                <a:srgbClr val="C84A45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8019288" y="2414016"/>
            <a:ext cx="109728" cy="109728"/>
          </a:xfrm>
          <a:prstGeom prst="ellipse">
            <a:avLst/>
          </a:prstGeom>
          <a:solidFill>
            <a:srgbClr val="C84A45"/>
          </a:solidFill>
          <a:ln w="6350">
            <a:solidFill>
              <a:srgbClr val="C84A45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8293608" y="2331720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路由塌缩非 Trap：先做模块可用性筛查</a:t>
            </a:r>
            <a:endParaRPr lang="en-US" sz="132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8019288" y="3118104"/>
            <a:ext cx="109728" cy="109728"/>
          </a:xfrm>
          <a:prstGeom prst="ellipse">
            <a:avLst/>
          </a:prstGeom>
          <a:solidFill>
            <a:srgbClr val="C84A45"/>
          </a:solidFill>
          <a:ln w="6350">
            <a:solidFill>
              <a:srgbClr val="C84A45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8293608" y="3035808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阈值依赖任务：归一化 + 跨任务验证</a:t>
            </a:r>
            <a:endParaRPr lang="en-US" sz="132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8019288" y="3822192"/>
            <a:ext cx="109728" cy="109728"/>
          </a:xfrm>
          <a:prstGeom prst="ellipse">
            <a:avLst/>
          </a:prstGeom>
          <a:solidFill>
            <a:srgbClr val="C84A45"/>
          </a:solidFill>
          <a:ln w="6350">
            <a:solidFill>
              <a:srgbClr val="C84A45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93608" y="3739896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多样化伤害安全：短步执行 + 回滚</a:t>
            </a:r>
            <a:endParaRPr lang="en-US" sz="132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8019288" y="4526280"/>
            <a:ext cx="109728" cy="109728"/>
          </a:xfrm>
          <a:prstGeom prst="ellipse">
            <a:avLst/>
          </a:prstGeom>
          <a:solidFill>
            <a:srgbClr val="C84A45"/>
          </a:solidFill>
          <a:ln w="6350">
            <a:solidFill>
              <a:srgbClr val="C84A45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8293608" y="4443984"/>
            <a:ext cx="2286000" cy="4389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相关不等于因果：做干预 / swap 消融</a:t>
            </a:r>
            <a:endParaRPr lang="en-US" sz="1320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841248" y="5916168"/>
            <a:ext cx="10515600" cy="347472"/>
          </a:xfrm>
          <a:prstGeom prst="roundRect">
            <a:avLst>
              <a:gd name="adj" fmla="val 21053"/>
            </a:avLst>
          </a:prstGeom>
          <a:solidFill>
            <a:srgbClr val="0D2F56"/>
          </a:solidFill>
          <a:ln w="10160">
            <a:solidFill>
              <a:srgbClr val="0D2F56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987552" y="5943600"/>
            <a:ext cx="10222992" cy="246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研究策略：先证明“信号能稳定读出”，再证明“基于信号的干预能改善结果”，最后讨论因果机制。</a:t>
            </a:r>
            <a:endParaRPr lang="en-US" sz="128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oboWis_unpack/ppt/media/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735" y="128016"/>
            <a:ext cx="1010489" cy="3657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755648" y="155448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ROBOT-WHISPER</a:t>
            </a:r>
            <a:endParaRPr lang="en-US" sz="1050" b="1" kern="0" spc="10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406640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406640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动机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065008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65008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问题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8723376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723376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方法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381744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381744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证据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0040112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040112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验证</a:t>
            </a:r>
            <a:endParaRPr lang="en-US" sz="9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0698480" y="146304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173F73"/>
          </a:solidFill>
          <a:ln w="12700">
            <a:solidFill>
              <a:srgbClr val="173F7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698480" y="1463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计划</a:t>
            </a:r>
            <a:endParaRPr lang="en-US" sz="95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1384280" y="128016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73F73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16</a:t>
            </a:r>
            <a:endParaRPr lang="en-US" sz="1200" b="1" dirty="0">
              <a:solidFill>
                <a:srgbClr val="173F73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11480" y="557784"/>
            <a:ext cx="11365992" cy="0"/>
          </a:xfrm>
          <a:prstGeom prst="line">
            <a:avLst/>
          </a:prstGeom>
          <a:noFill/>
          <a:ln w="11430">
            <a:solidFill>
              <a:srgbClr val="C7D6E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5488" y="749808"/>
            <a:ext cx="50292" cy="402336"/>
          </a:xfrm>
          <a:prstGeom prst="rect">
            <a:avLst/>
          </a:prstGeom>
          <a:solidFill>
            <a:srgbClr val="2A69A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" y="694944"/>
            <a:ext cx="10607040" cy="51206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下一步计划与预期产出</a:t>
            </a:r>
            <a:endParaRPr lang="en-US" sz="2500" b="1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11480" y="6583680"/>
            <a:ext cx="11365992" cy="0"/>
          </a:xfrm>
          <a:prstGeom prst="line">
            <a:avLst/>
          </a:prstGeom>
          <a:noFill/>
          <a:ln w="6985">
            <a:solidFill>
              <a:srgbClr val="C7D6E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75488" y="6620256"/>
            <a:ext cx="530352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VLA internal routing · trap alarm · online recovery</a:t>
            </a:r>
            <a:endParaRPr lang="en-US" sz="8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8869680" y="6620256"/>
            <a:ext cx="2880360" cy="1554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7E8A9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复旦大学 · Robot-Whisper</a:t>
            </a:r>
            <a:endParaRPr lang="en-US" sz="850" dirty="0">
              <a:solidFill>
                <a:srgbClr val="7E8A9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3" name="Text 20"/>
          <p:cNvSpPr txBox="1"/>
          <p:nvPr/>
        </p:nvSpPr>
        <p:spPr>
          <a:xfrm>
            <a:off x="676656" y="1280160"/>
            <a:ext cx="242316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69AC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2026 年 9–12 月工作路线</a:t>
            </a:r>
            <a:endParaRPr lang="en-US" sz="1400" b="1" dirty="0">
              <a:solidFill>
                <a:srgbClr val="2A69AC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932688" y="2304288"/>
            <a:ext cx="10149840" cy="0"/>
          </a:xfrm>
          <a:prstGeom prst="line">
            <a:avLst/>
          </a:prstGeom>
          <a:noFill/>
          <a:ln w="25400">
            <a:solidFill>
              <a:srgbClr val="C7D6E6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1179576" y="2185416"/>
            <a:ext cx="237744" cy="237744"/>
          </a:xfrm>
          <a:prstGeom prst="ellipse">
            <a:avLst/>
          </a:prstGeom>
          <a:solidFill>
            <a:srgbClr val="FFFFFF"/>
          </a:solidFill>
          <a:ln w="6350">
            <a:solidFill>
              <a:srgbClr val="2A69A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78408" y="1572768"/>
            <a:ext cx="640080" cy="640080"/>
          </a:xfrm>
          <a:prstGeom prst="ellipse">
            <a:avLst/>
          </a:prstGeom>
          <a:solidFill>
            <a:srgbClr val="2A69AC"/>
          </a:solidFill>
          <a:ln w="12700">
            <a:solidFill>
              <a:srgbClr val="2A69AC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978408" y="157276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09</a:t>
            </a:r>
            <a:endParaRPr lang="en-US" sz="140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438912" y="2606040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A69AC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信号定型</a:t>
            </a:r>
            <a:endParaRPr lang="en-US" sz="1700" b="1" dirty="0">
              <a:solidFill>
                <a:srgbClr val="2A69AC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9" name="Text 26"/>
          <p:cNvSpPr txBox="1"/>
          <p:nvPr/>
        </p:nvSpPr>
        <p:spPr>
          <a:xfrm>
            <a:off x="356616" y="3035808"/>
            <a:ext cx="1883664" cy="6035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Trap 标签</a:t>
            </a:r>
            <a:endParaRPr lang="en-US" sz="12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125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层 / token / q / W 消融</a:t>
            </a:r>
            <a:endParaRPr lang="en-US" sz="12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0" name="Text 27"/>
          <p:cNvSpPr txBox="1"/>
          <p:nvPr/>
        </p:nvSpPr>
        <p:spPr>
          <a:xfrm>
            <a:off x="2304288" y="2148840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7D6E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→</a:t>
            </a:r>
            <a:endParaRPr lang="en-US" sz="1800" b="1" dirty="0">
              <a:solidFill>
                <a:srgbClr val="C7D6E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3703320" y="2185416"/>
            <a:ext cx="237744" cy="237744"/>
          </a:xfrm>
          <a:prstGeom prst="ellipse">
            <a:avLst/>
          </a:prstGeom>
          <a:solidFill>
            <a:srgbClr val="FFFFFF"/>
          </a:solidFill>
          <a:ln w="6350">
            <a:solidFill>
              <a:srgbClr val="397FC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502152" y="1572768"/>
            <a:ext cx="640080" cy="640080"/>
          </a:xfrm>
          <a:prstGeom prst="ellipse">
            <a:avLst/>
          </a:prstGeom>
          <a:solidFill>
            <a:srgbClr val="397FC3"/>
          </a:solidFill>
          <a:ln w="12700">
            <a:solidFill>
              <a:srgbClr val="397FC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502152" y="157276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10</a:t>
            </a:r>
            <a:endParaRPr lang="en-US" sz="140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34" name="Text 31"/>
          <p:cNvSpPr txBox="1"/>
          <p:nvPr/>
        </p:nvSpPr>
        <p:spPr>
          <a:xfrm>
            <a:off x="2962656" y="2606040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397FC3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检测验证</a:t>
            </a:r>
            <a:endParaRPr lang="en-US" sz="1700" b="1" dirty="0">
              <a:solidFill>
                <a:srgbClr val="397FC3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35" name="Text 32"/>
          <p:cNvSpPr txBox="1"/>
          <p:nvPr/>
        </p:nvSpPr>
        <p:spPr>
          <a:xfrm>
            <a:off x="2880360" y="3035808"/>
            <a:ext cx="1883664" cy="6035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跨任务检测</a:t>
            </a:r>
            <a:endParaRPr lang="en-US" sz="12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125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lead time 与误报分析</a:t>
            </a:r>
            <a:endParaRPr lang="en-US" sz="12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6" name="Text 33"/>
          <p:cNvSpPr txBox="1"/>
          <p:nvPr/>
        </p:nvSpPr>
        <p:spPr>
          <a:xfrm>
            <a:off x="4828032" y="2148840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7D6E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→</a:t>
            </a:r>
            <a:endParaRPr lang="en-US" sz="1800" b="1" dirty="0">
              <a:solidFill>
                <a:srgbClr val="C7D6E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6227064" y="2185416"/>
            <a:ext cx="237744" cy="237744"/>
          </a:xfrm>
          <a:prstGeom prst="ellipse">
            <a:avLst/>
          </a:prstGeom>
          <a:solidFill>
            <a:srgbClr val="FFFFFF"/>
          </a:solidFill>
          <a:ln w="6350">
            <a:solidFill>
              <a:srgbClr val="E8A33D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025896" y="1572768"/>
            <a:ext cx="640080" cy="64008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025896" y="157276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11</a:t>
            </a:r>
            <a:endParaRPr lang="en-US" sz="140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40" name="Text 37"/>
          <p:cNvSpPr txBox="1"/>
          <p:nvPr/>
        </p:nvSpPr>
        <p:spPr>
          <a:xfrm>
            <a:off x="5486400" y="2606040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A33D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在线救回</a:t>
            </a:r>
            <a:endParaRPr lang="en-US" sz="1700" b="1" dirty="0">
              <a:solidFill>
                <a:srgbClr val="E8A33D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41" name="Text 38"/>
          <p:cNvSpPr txBox="1"/>
          <p:nvPr/>
        </p:nvSpPr>
        <p:spPr>
          <a:xfrm>
            <a:off x="5404104" y="3035808"/>
            <a:ext cx="1883664" cy="6035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checkpoint 配对</a:t>
            </a:r>
            <a:endParaRPr lang="en-US" sz="12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125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resample / chunk 控制</a:t>
            </a:r>
            <a:endParaRPr lang="en-US" sz="12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2" name="Text 39"/>
          <p:cNvSpPr txBox="1"/>
          <p:nvPr/>
        </p:nvSpPr>
        <p:spPr>
          <a:xfrm>
            <a:off x="7351776" y="2148840"/>
            <a:ext cx="36576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7D6E6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→</a:t>
            </a:r>
            <a:endParaRPr lang="en-US" sz="1800" b="1" dirty="0">
              <a:solidFill>
                <a:srgbClr val="C7D6E6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8750808" y="2185416"/>
            <a:ext cx="237744" cy="237744"/>
          </a:xfrm>
          <a:prstGeom prst="ellipse">
            <a:avLst/>
          </a:prstGeom>
          <a:solidFill>
            <a:srgbClr val="FFFFFF"/>
          </a:solidFill>
          <a:ln w="6350">
            <a:solidFill>
              <a:srgbClr val="2E8C7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549640" y="1572768"/>
            <a:ext cx="640080" cy="640080"/>
          </a:xfrm>
          <a:prstGeom prst="ellipse">
            <a:avLst/>
          </a:prstGeom>
          <a:solidFill>
            <a:srgbClr val="2E8C7D"/>
          </a:solidFill>
          <a:ln w="12700">
            <a:solidFill>
              <a:srgbClr val="2E8C7D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549640" y="157276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12</a:t>
            </a:r>
            <a:endParaRPr lang="en-US" sz="140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46" name="Text 43"/>
          <p:cNvSpPr txBox="1"/>
          <p:nvPr/>
        </p:nvSpPr>
        <p:spPr>
          <a:xfrm>
            <a:off x="8010144" y="2606040"/>
            <a:ext cx="1719072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8C7D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整合输出</a:t>
            </a:r>
            <a:endParaRPr lang="en-US" sz="1700" b="1" dirty="0">
              <a:solidFill>
                <a:srgbClr val="2E8C7D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47" name="Text 44"/>
          <p:cNvSpPr txBox="1"/>
          <p:nvPr/>
        </p:nvSpPr>
        <p:spPr>
          <a:xfrm>
            <a:off x="7927848" y="3035808"/>
            <a:ext cx="1883664" cy="6035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系统 demo</a:t>
            </a:r>
            <a:endParaRPr lang="en-US" sz="125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buNone/>
            </a:pPr>
            <a:r>
              <a:rPr lang="en-US" sz="1250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论文 / 技术报告</a:t>
            </a:r>
            <a:endParaRPr lang="en-US" sz="125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8" name="Text 45"/>
          <p:cNvSpPr txBox="1"/>
          <p:nvPr/>
        </p:nvSpPr>
        <p:spPr>
          <a:xfrm>
            <a:off x="676656" y="4069080"/>
            <a:ext cx="1143000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A69AC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预期形成</a:t>
            </a:r>
            <a:endParaRPr lang="en-US" sz="1400" b="1" dirty="0">
              <a:solidFill>
                <a:srgbClr val="2A69AC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749808" y="4462272"/>
            <a:ext cx="233172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2A69AC"/>
            </a:solidFill>
            <a:prstDash val="solid"/>
          </a:ln>
          <a:effectLst>
            <a:outerShdw blurRad="15240" dist="50800" dir="2700000" algn="bl" rotWithShape="0">
              <a:srgbClr val="7F8C99">
                <a:alpha val="6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914400" y="4626864"/>
            <a:ext cx="566928" cy="265176"/>
          </a:xfrm>
          <a:prstGeom prst="roundRect">
            <a:avLst>
              <a:gd name="adj" fmla="val 31034"/>
            </a:avLst>
          </a:prstGeom>
          <a:solidFill>
            <a:srgbClr val="2A69AC"/>
          </a:solidFill>
          <a:ln w="8890">
            <a:solidFill>
              <a:srgbClr val="2A69AC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914400" y="4626864"/>
            <a:ext cx="566928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数据</a:t>
            </a:r>
            <a:endParaRPr lang="en-US" sz="105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52" name="Text 49"/>
          <p:cNvSpPr txBox="1"/>
          <p:nvPr/>
        </p:nvSpPr>
        <p:spPr>
          <a:xfrm>
            <a:off x="950976" y="4983480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chunk 对齐的 VLA Trap 轨迹与路由日志</a:t>
            </a:r>
            <a:endParaRPr lang="en-US" sz="1240" b="1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53" name="Shape 50"/>
          <p:cNvSpPr/>
          <p:nvPr/>
        </p:nvSpPr>
        <p:spPr>
          <a:xfrm>
            <a:off x="3547872" y="4462272"/>
            <a:ext cx="233172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173F73"/>
            </a:solidFill>
            <a:prstDash val="solid"/>
          </a:ln>
          <a:effectLst>
            <a:outerShdw blurRad="15240" dist="50800" dir="2700000" algn="bl" rotWithShape="0">
              <a:srgbClr val="7F8C99">
                <a:alpha val="6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3712464" y="4626864"/>
            <a:ext cx="566928" cy="265176"/>
          </a:xfrm>
          <a:prstGeom prst="roundRect">
            <a:avLst>
              <a:gd name="adj" fmla="val 31034"/>
            </a:avLst>
          </a:prstGeom>
          <a:solidFill>
            <a:srgbClr val="173F73"/>
          </a:solidFill>
          <a:ln w="8890">
            <a:solidFill>
              <a:srgbClr val="173F73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3712464" y="4626864"/>
            <a:ext cx="566928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方法</a:t>
            </a:r>
            <a:endParaRPr lang="en-US" sz="105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56" name="Text 53"/>
          <p:cNvSpPr txBox="1"/>
          <p:nvPr/>
        </p:nvSpPr>
        <p:spPr>
          <a:xfrm>
            <a:off x="3749040" y="4983480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轻量路由报警器与在线救回控制器</a:t>
            </a:r>
            <a:endParaRPr lang="en-US" sz="1240" b="1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6345936" y="4462272"/>
            <a:ext cx="233172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E8A33D"/>
            </a:solidFill>
            <a:prstDash val="solid"/>
          </a:ln>
          <a:effectLst>
            <a:outerShdw blurRad="15240" dist="50800" dir="2700000" algn="bl" rotWithShape="0">
              <a:srgbClr val="7F8C99">
                <a:alpha val="6000"/>
              </a:srgbClr>
            </a:outerShdw>
          </a:effectLst>
        </p:spPr>
      </p:sp>
      <p:sp>
        <p:nvSpPr>
          <p:cNvPr id="58" name="Shape 55"/>
          <p:cNvSpPr/>
          <p:nvPr/>
        </p:nvSpPr>
        <p:spPr>
          <a:xfrm>
            <a:off x="6510528" y="4626864"/>
            <a:ext cx="566928" cy="265176"/>
          </a:xfrm>
          <a:prstGeom prst="roundRect">
            <a:avLst>
              <a:gd name="adj" fmla="val 31034"/>
            </a:avLst>
          </a:prstGeom>
          <a:solidFill>
            <a:srgbClr val="E8A33D"/>
          </a:solidFill>
          <a:ln w="8890">
            <a:solidFill>
              <a:srgbClr val="E8A33D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6510528" y="4626864"/>
            <a:ext cx="566928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机制</a:t>
            </a:r>
            <a:endParaRPr lang="en-US" sz="105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60" name="Text 57"/>
          <p:cNvSpPr txBox="1"/>
          <p:nvPr/>
        </p:nvSpPr>
        <p:spPr>
          <a:xfrm>
            <a:off x="6547104" y="4983480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内部路由何时领先于外部失败的系统分析</a:t>
            </a:r>
            <a:endParaRPr lang="en-US" sz="1240" b="1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9144000" y="4462272"/>
            <a:ext cx="233172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0160">
            <a:solidFill>
              <a:srgbClr val="2E8C7D"/>
            </a:solidFill>
            <a:prstDash val="solid"/>
          </a:ln>
          <a:effectLst>
            <a:outerShdw blurRad="15240" dist="50800" dir="2700000" algn="bl" rotWithShape="0">
              <a:srgbClr val="7F8C99">
                <a:alpha val="6000"/>
              </a:srgbClr>
            </a:outerShdw>
          </a:effectLst>
        </p:spPr>
      </p:sp>
      <p:sp>
        <p:nvSpPr>
          <p:cNvPr id="62" name="Shape 59"/>
          <p:cNvSpPr/>
          <p:nvPr/>
        </p:nvSpPr>
        <p:spPr>
          <a:xfrm>
            <a:off x="9308592" y="4626864"/>
            <a:ext cx="566928" cy="265176"/>
          </a:xfrm>
          <a:prstGeom prst="roundRect">
            <a:avLst>
              <a:gd name="adj" fmla="val 31034"/>
            </a:avLst>
          </a:prstGeom>
          <a:solidFill>
            <a:srgbClr val="2E8C7D"/>
          </a:solidFill>
          <a:ln w="8890">
            <a:solidFill>
              <a:srgbClr val="2E8C7D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9308592" y="4626864"/>
            <a:ext cx="566928" cy="26517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系统</a:t>
            </a:r>
            <a:endParaRPr lang="en-US" sz="105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64" name="Text 61"/>
          <p:cNvSpPr txBox="1"/>
          <p:nvPr/>
        </p:nvSpPr>
        <p:spPr>
          <a:xfrm>
            <a:off x="9345168" y="4983480"/>
            <a:ext cx="1920240" cy="438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7212B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Robot-Whisper 可视化与交互式 demo</a:t>
            </a:r>
            <a:endParaRPr lang="en-US" sz="1240" b="1" dirty="0">
              <a:solidFill>
                <a:srgbClr val="17212B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F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oboWis_unpack/ppt/media/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8206" y="384048"/>
            <a:ext cx="1313636" cy="4754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857232" y="438912"/>
            <a:ext cx="1481328" cy="292608"/>
          </a:xfrm>
          <a:prstGeom prst="roundRect">
            <a:avLst>
              <a:gd name="adj" fmla="val 28125"/>
            </a:avLst>
          </a:prstGeom>
          <a:solidFill>
            <a:srgbClr val="234E7B"/>
          </a:solidFill>
          <a:ln w="8890">
            <a:solidFill>
              <a:srgbClr val="234E7B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9857232" y="438912"/>
            <a:ext cx="1481328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TAKEAWAYS</a:t>
            </a:r>
            <a:endParaRPr lang="en-US" sz="105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658368" y="1280160"/>
            <a:ext cx="5650992" cy="1353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让 VLA 在失败之前，</a:t>
            </a:r>
            <a:endParaRPr lang="en-US" sz="34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先发出内部警报</a:t>
            </a:r>
            <a:endParaRPr lang="en-US" sz="3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713232" y="2834640"/>
            <a:ext cx="5303520" cy="40233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B7D8F2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基于 MoE 路由动态的 Trap 预警与在线救回</a:t>
            </a:r>
            <a:endParaRPr lang="en-US" sz="1750" b="1" dirty="0">
              <a:solidFill>
                <a:srgbClr val="B7D8F2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766560" y="1234440"/>
            <a:ext cx="530352" cy="530352"/>
          </a:xfrm>
          <a:prstGeom prst="ellipse">
            <a:avLst/>
          </a:prstGeom>
          <a:solidFill>
            <a:srgbClr val="397FC3"/>
          </a:solidFill>
          <a:ln w="12700">
            <a:solidFill>
              <a:srgbClr val="397FC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766560" y="1234440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01</a:t>
            </a:r>
            <a:endParaRPr lang="en-US" sz="122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7498080" y="1225296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2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Trap 是轨迹级失效</a:t>
            </a:r>
            <a:endParaRPr lang="en-US" sz="182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7498080" y="1636776"/>
            <a:ext cx="3584448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9E6F2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不是某一个错误动作，而是持续失去有效进展与策略变化。</a:t>
            </a:r>
            <a:endParaRPr lang="en-US" sz="1300" dirty="0">
              <a:solidFill>
                <a:srgbClr val="D9E6F2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766560" y="2651760"/>
            <a:ext cx="530352" cy="530352"/>
          </a:xfrm>
          <a:prstGeom prst="ellipse">
            <a:avLst/>
          </a:prstGeom>
          <a:solidFill>
            <a:srgbClr val="397FC3"/>
          </a:solidFill>
          <a:ln w="12700">
            <a:solidFill>
              <a:srgbClr val="397FC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66560" y="2651760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02</a:t>
            </a:r>
            <a:endParaRPr lang="en-US" sz="122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7498080" y="2642616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2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内部路由是候选传感器</a:t>
            </a:r>
            <a:endParaRPr lang="en-US" sz="182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7498080" y="3054096"/>
            <a:ext cx="3584448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9E6F2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它可能比 action / token 更早暴露模型已经进入局部盆地。</a:t>
            </a:r>
            <a:endParaRPr lang="en-US" sz="1300" dirty="0">
              <a:solidFill>
                <a:srgbClr val="D9E6F2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766560" y="4069080"/>
            <a:ext cx="530352" cy="530352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66560" y="4069080"/>
            <a:ext cx="530352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03</a:t>
            </a:r>
            <a:endParaRPr lang="en-US" sz="122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7498080" y="4059936"/>
            <a:ext cx="3520440" cy="32004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2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最终标准是闭环收益</a:t>
            </a:r>
            <a:endParaRPr lang="en-US" sz="182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7498080" y="4471416"/>
            <a:ext cx="3584448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D9E6F2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报警只有在“更早检测 + 更高救回成功率 + 可控成本”时才真正有价值。</a:t>
            </a:r>
            <a:endParaRPr lang="en-US" sz="1300" dirty="0">
              <a:solidFill>
                <a:srgbClr val="D9E6F2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58368" y="5413248"/>
            <a:ext cx="10725912" cy="0"/>
          </a:xfrm>
          <a:prstGeom prst="line">
            <a:avLst/>
          </a:prstGeom>
          <a:noFill/>
          <a:ln w="11430">
            <a:solidFill>
              <a:srgbClr val="3B5E8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13232" y="5650992"/>
            <a:ext cx="6217920" cy="3840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2A7D8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内部路由看见了动作尚未表达的状态。</a:t>
            </a:r>
            <a:endParaRPr lang="en-US" sz="1800" b="1" dirty="0">
              <a:solidFill>
                <a:srgbClr val="62A7D8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7351776" y="5596128"/>
            <a:ext cx="3877056" cy="457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300" b="1" dirty="0">
                <a:solidFill>
                  <a:srgbClr val="FFFFFF"/>
                </a:solidFill>
                <a:latin typeface="Times New Roman" panose="02020603050405020304" charset="0"/>
                <a:ea typeface="Noto Sans CJK SC" pitchFamily="34" charset="-122"/>
                <a:cs typeface="Noto Sans CJK SC" pitchFamily="34" charset="-120"/>
              </a:rPr>
              <a:t>敬请各位老师批评指正</a:t>
            </a:r>
            <a:endParaRPr lang="en-US" sz="2300" b="1" dirty="0">
              <a:solidFill>
                <a:srgbClr val="FFFFFF"/>
              </a:solidFill>
              <a:latin typeface="Times New Roman" panose="02020603050405020304" charset="0"/>
              <a:ea typeface="Noto Sans CJK SC" pitchFamily="34" charset="-122"/>
              <a:cs typeface="Noto Sans CJK SC" pitchFamily="34" charset="-120"/>
            </a:endParaRPr>
          </a:p>
        </p:txBody>
      </p:sp>
      <p:sp>
        <p:nvSpPr>
          <p:cNvPr id="22" name="Text 19"/>
          <p:cNvSpPr txBox="1"/>
          <p:nvPr/>
        </p:nvSpPr>
        <p:spPr>
          <a:xfrm>
            <a:off x="713232" y="6455664"/>
            <a:ext cx="10643616" cy="18288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90" dirty="0">
                <a:solidFill>
                  <a:srgbClr val="90AAC2"/>
                </a:solidFill>
                <a:latin typeface="Times New Roman" panose="02020603050405020304" charset="0"/>
                <a:ea typeface="Noto Sans CJK SC" pitchFamily="34" charset="-122"/>
                <a:cs typeface="Times New Roman" panose="02020603050405020304" charset="0"/>
              </a:rPr>
              <a:t>References: NAD (arXiv:2510.26277) · TAAR (arXiv:2601.11940) · HiMoE-VLA (arXiv:2512.05693) · LIBERO (arXiv:2306.03310)</a:t>
            </a:r>
            <a:endParaRPr lang="en-US" sz="790" dirty="0">
              <a:solidFill>
                <a:srgbClr val="90AAC2"/>
              </a:solidFill>
              <a:latin typeface="Times New Roman" panose="02020603050405020304" charset="0"/>
              <a:ea typeface="Noto Sans CJK SC" pitchFamily="34" charset="-122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6529</Words>
  <Application>WPS 演示</Application>
  <PresentationFormat>On-screen Show (16:9)</PresentationFormat>
  <Paragraphs>993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宋体</vt:lpstr>
      <vt:lpstr>Wingdings</vt:lpstr>
      <vt:lpstr>Noto Sans CJK SC</vt:lpstr>
      <vt:lpstr>AMGDT</vt:lpstr>
      <vt:lpstr>Noto Sans CJK SC</vt:lpstr>
      <vt:lpstr>Noto Sans CJK SC</vt:lpstr>
      <vt:lpstr>微软雅黑</vt:lpstr>
      <vt:lpstr>Arial Unicode MS</vt:lpstr>
      <vt:lpstr>Calibri</vt:lpstr>
      <vt:lpstr>MingLiU-ExtB</vt:lpstr>
      <vt:lpstr>Times New Roman</vt:lpstr>
      <vt:lpstr>等线 Light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Fudan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VLA 大模型的内部机理分析</dc:title>
  <dc:creator>OpenAI</dc:creator>
  <dc:subject>VLA internal mechanism analysis: MoE routing based trap detection and recovery</dc:subject>
  <cp:lastModifiedBy>陈慧欣</cp:lastModifiedBy>
  <cp:revision>2</cp:revision>
  <dcterms:created xsi:type="dcterms:W3CDTF">2026-09-01T23:17:00Z</dcterms:created>
  <dcterms:modified xsi:type="dcterms:W3CDTF">2026-09-02T01:01:15Z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52272946F8734161AD7D0F914593012F_12</vt:lpwstr>
  </property>
</Properties>
</file>